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OMeT as market infrastructure: a regulated, long-duration asset rather than a trading strategy. Family offices respond to durability, alignment, and a clear path to cash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Clearing removed the credit reason for relationship-based execution, but the execution model never caught up. The scale of the market means even a small share of addressable volume is meaningful. Add your addressable-volume and share assumptions here if you want the revenue math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plus defensibility in one slide. If OMeT is independent of dealer ownership, say so under 'Neutral by design'; it's the strongest version of that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confirmed revenue engines: execution and data. The flywheel is the long-term story: more participants bring more volume, which produces more data, which improves OMeT-i, which attracts more participants. Fill in fee structure and pricing before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2-3.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5.pn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2-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7.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6.svg"/><Relationship Id="rId17" Type="http://schemas.openxmlformats.org/officeDocument/2006/relationships/image" Target="../media/image-5-17.png"/><Relationship Id="rId18" Type="http://schemas.openxmlformats.org/officeDocument/2006/relationships/image" Target="../media/image-5-18.svg"/><Relationship Id="rId19" Type="http://schemas.openxmlformats.org/officeDocument/2006/relationships/image" Target="../media/image-5-19.png"/><Relationship Id="rId20" Type="http://schemas.openxmlformats.org/officeDocument/2006/relationships/image" Target="../media/image-5-20.svg"/><Relationship Id="rId21" Type="http://schemas.openxmlformats.org/officeDocument/2006/relationships/image" Target="../media/image-5-21.png"/><Relationship Id="rId22" Type="http://schemas.openxmlformats.org/officeDocument/2006/relationships/image" Target="../media/image-5-22.svg"/><Relationship Id="rId23" Type="http://schemas.openxmlformats.org/officeDocument/2006/relationships/image" Target="../media/image-5-23.png"/><Relationship Id="rId24" Type="http://schemas.openxmlformats.org/officeDocument/2006/relationships/image" Target="../media/image-5-24.sv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2-3.png"/><Relationship Id="rId29" Type="http://schemas.openxmlformats.org/officeDocument/2006/relationships/slideLayout" Target="../slideLayouts/slideLayout1.xml"/><Relationship Id="rId3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6-2.png"/><Relationship Id="rId3" Type="http://schemas.openxmlformats.org/officeDocument/2006/relationships/image" Target="../media/image-2-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slideLayout" Target="../slideLayouts/slideLayout1.xml"/><Relationship Id="rId2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www.om-etrading.com/" TargetMode="External"/><Relationship Id="rId4" Type="http://schemas.openxmlformats.org/officeDocument/2006/relationships/hyperlink" Target="https://v.singh@om-etrading.com" TargetMode="External"/><Relationship Id="rId1" Type="http://schemas.openxmlformats.org/officeDocument/2006/relationships/image" Target="../media/image-1-1.jpeg"/><Relationship Id="rId2"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1" descr="preencoded.png">    </p:cNvPr>
          <p:cNvPicPr>
            <a:picLocks noChangeAspect="1"/>
          </p:cNvPicPr>
          <p:nvPr/>
        </p:nvPicPr>
        <p:blipFill>
          <a:blip r:embed="rId1"/>
          <a:srcRect l="0" r="0" t="0" b="0"/>
          <a:stretch/>
        </p:blipFill>
        <p:spPr>
          <a:xfrm>
            <a:off x="0" y="0"/>
            <a:ext cx="18288000" cy="10287000"/>
          </a:xfrm>
          <a:prstGeom prst="rect">
            <a:avLst/>
          </a:prstGeom>
        </p:spPr>
      </p:pic>
      <p:sp>
        <p:nvSpPr>
          <p:cNvPr id="4" name="PPTX slide background"/>
          <p:cNvSpPr/>
          <p:nvPr/>
        </p:nvSpPr>
        <p:spPr>
          <a:xfrm>
            <a:off x="0" y="0"/>
            <a:ext cx="18288000" cy="10287000"/>
          </a:xfrm>
          <a:prstGeom prst="rect">
            <a:avLst/>
          </a:prstGeom>
          <a:solidFill>
            <a:srgbClr val="FFFFFF"/>
          </a:solidFill>
          <a:ln/>
        </p:spPr>
      </p:sp>
      <p:pic>
        <p:nvPicPr>
          <p:cNvPr id="5" name="image-1-1.jpg" descr="preencoded.png">    </p:cNvPr>
          <p:cNvPicPr>
            <a:picLocks noChangeAspect="1"/>
          </p:cNvPicPr>
          <p:nvPr/>
        </p:nvPicPr>
        <p:blipFill>
          <a:blip r:embed="rId2"/>
          <a:srcRect l="0" r="0" t="0" b="0"/>
          <a:stretch/>
        </p:blipFill>
        <p:spPr>
          <a:xfrm>
            <a:off x="0" y="-3192"/>
            <a:ext cx="18289795" cy="10290192"/>
          </a:xfrm>
          <a:prstGeom prst="rect">
            <a:avLst/>
          </a:prstGeom>
        </p:spPr>
      </p:pic>
      <p:pic>
        <p:nvPicPr>
          <p:cNvPr id="6" name="image-1-2.png" descr="preencoded.png">    </p:cNvPr>
          <p:cNvPicPr>
            <a:picLocks noChangeAspect="1"/>
          </p:cNvPicPr>
          <p:nvPr/>
        </p:nvPicPr>
        <p:blipFill>
          <a:blip r:embed="rId3"/>
          <a:srcRect l="0" r="0" t="0" b="0"/>
          <a:stretch/>
        </p:blipFill>
        <p:spPr>
          <a:xfrm>
            <a:off x="822961" y="822385"/>
            <a:ext cx="3295806" cy="895925"/>
          </a:xfrm>
          <a:prstGeom prst="rect">
            <a:avLst/>
          </a:prstGeom>
        </p:spPr>
      </p:pic>
      <p:pic>
        <p:nvPicPr>
          <p:cNvPr id="7" name="WO-001 1" descr="preencoded.png">    </p:cNvPr>
          <p:cNvPicPr>
            <a:picLocks noChangeAspect="1"/>
          </p:cNvPicPr>
          <p:nvPr/>
        </p:nvPicPr>
        <p:blipFill>
          <a:blip r:embed="rId4"/>
          <a:srcRect l="0" r="0" t="0" b="0"/>
          <a:stretch/>
        </p:blipFill>
        <p:spPr>
          <a:xfrm>
            <a:off x="12982575" y="2228117"/>
            <a:ext cx="4201245" cy="4125058"/>
          </a:xfrm>
          <a:prstGeom prst="rect">
            <a:avLst/>
          </a:prstGeom>
        </p:spPr>
      </p:pic>
      <p:sp>
        <p:nvSpPr>
          <p:cNvPr id="8" name="Text 1"/>
          <p:cNvSpPr/>
          <p:nvPr/>
        </p:nvSpPr>
        <p:spPr>
          <a:xfrm>
            <a:off x="822961" y="2228850"/>
            <a:ext cx="10439400" cy="1847850"/>
          </a:xfrm>
          <a:prstGeom prst="rect">
            <a:avLst/>
          </a:prstGeom>
          <a:noFill/>
          <a:ln/>
        </p:spPr>
        <p:txBody>
          <a:bodyPr wrap="square" lIns="0" tIns="0" rIns="0" bIns="0" rtlCol="0" anchor="t"/>
          <a:lstStyle/>
          <a:p>
            <a:pPr algn="l" indent="0" marL="0">
              <a:lnSpc>
                <a:spcPts val="7125"/>
              </a:lnSpc>
              <a:buNone/>
            </a:pPr>
            <a:r>
              <a:rPr lang="en-US" sz="6000" dirty="0">
                <a:solidFill>
                  <a:srgbClr val="074B4E"/>
                </a:solidFill>
                <a:latin typeface="Inter Regular" pitchFamily="34" charset="0"/>
                <a:ea typeface="Inter Regular" pitchFamily="34" charset="-122"/>
                <a:cs typeface="Inter Regular" pitchFamily="34" charset="-120"/>
              </a:rPr>
              <a:t>Transforming the World's Largest Financial Market </a:t>
            </a:r>
            <a:endParaRPr lang="en-US" sz="6000" dirty="0"/>
          </a:p>
        </p:txBody>
      </p:sp>
      <p:sp>
        <p:nvSpPr>
          <p:cNvPr id="9" name="Text 2"/>
          <p:cNvSpPr/>
          <p:nvPr/>
        </p:nvSpPr>
        <p:spPr>
          <a:xfrm>
            <a:off x="822961" y="6438900"/>
            <a:ext cx="9906000" cy="762000"/>
          </a:xfrm>
          <a:prstGeom prst="rect">
            <a:avLst/>
          </a:prstGeom>
          <a:noFill/>
          <a:ln/>
        </p:spPr>
        <p:txBody>
          <a:bodyPr wrap="square" lIns="0" tIns="0" rIns="0" bIns="0" rtlCol="0" anchor="t"/>
          <a:lstStyle/>
          <a:p>
            <a:pPr algn="l" indent="0" marL="0">
              <a:lnSpc>
                <a:spcPts val="2925"/>
              </a:lnSpc>
              <a:buNone/>
            </a:pPr>
            <a:r>
              <a:rPr lang="en-US" sz="2475" b="1" dirty="0">
                <a:solidFill>
                  <a:srgbClr val="33433E"/>
                </a:solidFill>
                <a:latin typeface="Inter Bold" pitchFamily="34" charset="0"/>
                <a:ea typeface="Inter Bold" pitchFamily="34" charset="-122"/>
                <a:cs typeface="Inter Bold" pitchFamily="34" charset="-120"/>
              </a:rPr>
              <a:t>OMeT</a:t>
            </a:r>
            <a:pPr algn="l" indent="0" marL="0">
              <a:lnSpc>
                <a:spcPts val="2925"/>
              </a:lnSpc>
              <a:buNone/>
            </a:pPr>
            <a:r>
              <a:rPr lang="en-US" sz="2475" dirty="0">
                <a:solidFill>
                  <a:srgbClr val="33433E"/>
                </a:solidFill>
                <a:latin typeface="Inter Regular" pitchFamily="34" charset="0"/>
                <a:ea typeface="Inter Regular" pitchFamily="34" charset="-122"/>
                <a:cs typeface="Inter Regular" pitchFamily="34" charset="-120"/>
              </a:rPr>
              <a:t> is an anonymous, all-to-all execution venue purpose-built for the cleared OTC swaps market.</a:t>
            </a:r>
            <a:endParaRPr lang="en-US" sz="2475" dirty="0"/>
          </a:p>
        </p:txBody>
      </p:sp>
      <p:sp>
        <p:nvSpPr>
          <p:cNvPr id="10" name="Text 7"/>
          <p:cNvSpPr/>
          <p:nvPr/>
        </p:nvSpPr>
        <p:spPr>
          <a:xfrm>
            <a:off x="819150" y="4638675"/>
            <a:ext cx="11572875" cy="1285875"/>
          </a:xfrm>
          <a:prstGeom prst="rect">
            <a:avLst/>
          </a:prstGeom>
          <a:noFill/>
          <a:ln/>
        </p:spPr>
        <p:txBody>
          <a:bodyPr wrap="square" lIns="0" tIns="0" rIns="0" bIns="0" rtlCol="0" anchor="t"/>
          <a:lstStyle/>
          <a:p>
            <a:pPr algn="l" indent="0" marL="0">
              <a:lnSpc>
                <a:spcPts val="3300"/>
              </a:lnSpc>
              <a:buNone/>
            </a:pPr>
            <a:r>
              <a:rPr lang="en-US" sz="2775" b="1" dirty="0">
                <a:solidFill>
                  <a:srgbClr val="33433E"/>
                </a:solidFill>
                <a:latin typeface="Inter Bold" pitchFamily="34" charset="0"/>
                <a:ea typeface="Inter Bold" pitchFamily="34" charset="-122"/>
                <a:cs typeface="Inter Bold" pitchFamily="34" charset="-120"/>
              </a:rPr>
              <a:t>OMeT</a:t>
            </a:r>
            <a:pPr algn="l" indent="0" marL="0">
              <a:lnSpc>
                <a:spcPts val="3300"/>
              </a:lnSpc>
              <a:buNone/>
            </a:pPr>
            <a:r>
              <a:rPr lang="en-US" sz="2775" dirty="0">
                <a:solidFill>
                  <a:srgbClr val="33433E"/>
                </a:solidFill>
                <a:latin typeface="Inter Regular" pitchFamily="34" charset="0"/>
                <a:ea typeface="Inter Regular" pitchFamily="34" charset="-122"/>
                <a:cs typeface="Inter Regular" pitchFamily="34" charset="-120"/>
              </a:rPr>
              <a:t> brings structure to cleared swaps trading: An open electronic market in place of a fragmented relationship-driven execution.</a:t>
            </a:r>
            <a:br/>
            <a:pPr algn="l" indent="0" marL="0">
              <a:lnSpc>
                <a:spcPts val="3300"/>
              </a:lnSpc>
              <a:buNone/>
            </a:pPr>
            <a:endParaRPr lang="en-US" sz="2775" dirty="0"/>
          </a:p>
        </p:txBody>
      </p:sp>
      <p:sp>
        <p:nvSpPr>
          <p:cNvPr id="11" name="Text 3"/>
          <p:cNvSpPr/>
          <p:nvPr/>
        </p:nvSpPr>
        <p:spPr>
          <a:xfrm>
            <a:off x="1857375" y="7762875"/>
            <a:ext cx="7562850" cy="647700"/>
          </a:xfrm>
          <a:prstGeom prst="rect">
            <a:avLst/>
          </a:prstGeom>
          <a:noFill/>
          <a:ln/>
        </p:spPr>
        <p:txBody>
          <a:bodyPr wrap="square" lIns="0" tIns="0" rIns="0" bIns="0" rtlCol="0" anchor="t"/>
          <a:lstStyle/>
          <a:p>
            <a:pPr algn="ctr" indent="0" marL="0">
              <a:lnSpc>
                <a:spcPts val="2475"/>
              </a:lnSpc>
              <a:buNone/>
            </a:pPr>
            <a:r>
              <a:rPr lang="en-US" sz="2100" i="1" dirty="0">
                <a:solidFill>
                  <a:srgbClr val="187A5E"/>
                </a:solidFill>
                <a:latin typeface="Inter Italic" pitchFamily="34" charset="0"/>
                <a:ea typeface="Inter Italic" pitchFamily="34" charset="-122"/>
                <a:cs typeface="Inter Italic" pitchFamily="34" charset="-120"/>
              </a:rPr>
              <a:t>Every rule visible. Every outcome explainable. </a:t>
            </a:r>
            <a:pPr algn="ctr" indent="0" marL="0">
              <a:lnSpc>
                <a:spcPts val="2475"/>
              </a:lnSpc>
              <a:buNone/>
            </a:pPr>
            <a:endParaRPr lang="en-US" sz="2100" dirty="0"/>
          </a:p>
          <a:p>
            <a:pPr algn="ctr" indent="0" marL="0">
              <a:lnSpc>
                <a:spcPts val="2475"/>
              </a:lnSpc>
              <a:buNone/>
            </a:pPr>
            <a:r>
              <a:rPr lang="en-US" sz="2100" i="1" dirty="0">
                <a:solidFill>
                  <a:srgbClr val="187A5E"/>
                </a:solidFill>
                <a:latin typeface="Inter Italic" pitchFamily="34" charset="0"/>
                <a:ea typeface="Inter Italic" pitchFamily="34" charset="-122"/>
                <a:cs typeface="Inter Italic" pitchFamily="34" charset="-120"/>
              </a:rPr>
              <a:t>Every trade turned into intelligence.</a:t>
            </a:r>
            <a:endParaRPr lang="en-US" sz="2100" dirty="0"/>
          </a:p>
        </p:txBody>
      </p:sp>
      <p:sp>
        <p:nvSpPr>
          <p:cNvPr id="12" name="Text 4"/>
          <p:cNvSpPr/>
          <p:nvPr/>
        </p:nvSpPr>
        <p:spPr>
          <a:xfrm>
            <a:off x="12525375" y="6619875"/>
            <a:ext cx="5438775" cy="285750"/>
          </a:xfrm>
          <a:prstGeom prst="rect">
            <a:avLst/>
          </a:prstGeom>
          <a:noFill/>
          <a:ln/>
        </p:spPr>
        <p:txBody>
          <a:bodyPr wrap="square" lIns="0" tIns="0" rIns="0" bIns="0" rtlCol="0" anchor="t"/>
          <a:lstStyle/>
          <a:p>
            <a:pPr algn="ctr" indent="0" marL="0">
              <a:lnSpc>
                <a:spcPts val="2250"/>
              </a:lnSpc>
              <a:buNone/>
            </a:pPr>
            <a:r>
              <a:rPr lang="en-US" sz="1875" i="1" dirty="0">
                <a:solidFill>
                  <a:srgbClr val="187A5E"/>
                </a:solidFill>
                <a:latin typeface="Inter Italic" pitchFamily="34" charset="0"/>
                <a:ea typeface="Inter Italic" pitchFamily="34" charset="-122"/>
                <a:cs typeface="Inter Italic" pitchFamily="34" charset="-120"/>
              </a:rPr>
              <a:t>Ride the Wave of Change</a:t>
            </a:r>
            <a:endParaRPr lang="en-US" sz="1875" dirty="0"/>
          </a:p>
        </p:txBody>
      </p:sp>
      <p:sp>
        <p:nvSpPr>
          <p:cNvPr id="13" name="SEPTEMBER 2026"/>
          <p:cNvSpPr/>
          <p:nvPr/>
        </p:nvSpPr>
        <p:spPr>
          <a:xfrm>
            <a:off x="15678150" y="964882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54BABE"/>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14" name="Text 8"/>
          <p:cNvSpPr/>
          <p:nvPr/>
        </p:nvSpPr>
        <p:spPr>
          <a:xfrm>
            <a:off x="752475" y="962977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2E8B7A"/>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2" descr="preencoded.png">    </p:cNvPr>
          <p:cNvPicPr>
            <a:picLocks noChangeAspect="1"/>
          </p:cNvPicPr>
          <p:nvPr/>
        </p:nvPicPr>
        <p:blipFill>
          <a:blip r:embed="rId1"/>
          <a:srcRect l="0" r="0" t="0" b="0"/>
          <a:stretch/>
        </p:blipFill>
        <p:spPr>
          <a:xfrm>
            <a:off x="0" y="0"/>
            <a:ext cx="18288000" cy="10287000"/>
          </a:xfrm>
          <a:prstGeom prst="rect">
            <a:avLst/>
          </a:prstGeom>
        </p:spPr>
      </p:pic>
      <p:sp>
        <p:nvSpPr>
          <p:cNvPr id="4" name="PPTX slide background"/>
          <p:cNvSpPr/>
          <p:nvPr/>
        </p:nvSpPr>
        <p:spPr>
          <a:xfrm>
            <a:off x="0" y="0"/>
            <a:ext cx="18288000" cy="10287000"/>
          </a:xfrm>
          <a:prstGeom prst="rect">
            <a:avLst/>
          </a:prstGeom>
          <a:solidFill>
            <a:srgbClr val="FFFFFF"/>
          </a:solidFill>
          <a:ln/>
        </p:spPr>
      </p:sp>
      <p:pic>
        <p:nvPicPr>
          <p:cNvPr id="5" name="image-2-1.jpg" descr="preencoded.png">    </p:cNvPr>
          <p:cNvPicPr>
            <a:picLocks noChangeAspect="1"/>
          </p:cNvPicPr>
          <p:nvPr/>
        </p:nvPicPr>
        <p:blipFill>
          <a:blip r:embed="rId2"/>
          <a:srcRect l="0" r="0" t="0" b="0"/>
          <a:stretch/>
        </p:blipFill>
        <p:spPr>
          <a:xfrm>
            <a:off x="0" y="0"/>
            <a:ext cx="18288000" cy="10287000"/>
          </a:xfrm>
          <a:prstGeom prst="rect">
            <a:avLst/>
          </a:prstGeom>
        </p:spPr>
      </p:pic>
      <p:pic>
        <p:nvPicPr>
          <p:cNvPr id="6" name="image-2-2.png" descr="preencoded.png">    </p:cNvPr>
          <p:cNvPicPr>
            <a:picLocks noChangeAspect="1"/>
          </p:cNvPicPr>
          <p:nvPr/>
        </p:nvPicPr>
        <p:blipFill>
          <a:blip r:embed="rId3"/>
          <a:srcRect l="0" r="0" t="0" b="0"/>
          <a:stretch/>
        </p:blipFill>
        <p:spPr>
          <a:xfrm>
            <a:off x="16024401" y="520957"/>
            <a:ext cx="1438343" cy="390776"/>
          </a:xfrm>
          <a:prstGeom prst="rect">
            <a:avLst/>
          </a:prstGeom>
        </p:spPr>
      </p:pic>
      <p:pic>
        <p:nvPicPr>
          <p:cNvPr id="7" name="Shape 17" descr="preencoded.png">    </p:cNvPr>
          <p:cNvPicPr>
            <a:picLocks noChangeAspect="1"/>
          </p:cNvPicPr>
          <p:nvPr/>
        </p:nvPicPr>
        <p:blipFill>
          <a:blip r:embed="rId4">
            <a:extLst>
              <a:ext uri="{96DAC541-7B7A-43D3-8B79-37D633B846F1}">
                <asvg:svgBlip xmlns:asvg="http://schemas.microsoft.com/office/drawing/2016/SVG/main" r:embed="rId5"/>
              </a:ext>
            </a:extLst>
          </a:blip>
          <a:srcRect l="0" r="0" t="0" b="0"/>
          <a:stretch/>
        </p:blipFill>
        <p:spPr>
          <a:xfrm>
            <a:off x="822961" y="7609475"/>
            <a:ext cx="16640366" cy="1098279"/>
          </a:xfrm>
          <a:prstGeom prst="rect">
            <a:avLst/>
          </a:prstGeom>
        </p:spPr>
      </p:pic>
      <p:sp>
        <p:nvSpPr>
          <p:cNvPr id="8" name="Text 0"/>
          <p:cNvSpPr/>
          <p:nvPr/>
        </p:nvSpPr>
        <p:spPr>
          <a:xfrm>
            <a:off x="822961" y="647510"/>
            <a:ext cx="8439150" cy="276225"/>
          </a:xfrm>
          <a:prstGeom prst="rect">
            <a:avLst/>
          </a:prstGeom>
          <a:noFill/>
          <a:ln/>
        </p:spPr>
        <p:txBody>
          <a:bodyPr wrap="square" lIns="0" tIns="0" rIns="0" bIns="0" rtlCol="0" anchor="ctr"/>
          <a:lstStyle/>
          <a:p>
            <a:pPr algn="l" indent="0" marL="0">
              <a:lnSpc>
                <a:spcPts val="2175"/>
              </a:lnSpc>
              <a:buNone/>
            </a:pPr>
            <a:r>
              <a:rPr lang="en-US" sz="1650" dirty="0">
                <a:solidFill>
                  <a:srgbClr val="187A5E"/>
                </a:solidFill>
                <a:latin typeface="IBM Plex Mono Regular" pitchFamily="34" charset="0"/>
                <a:ea typeface="IBM Plex Mono Regular" pitchFamily="34" charset="-122"/>
                <a:cs typeface="IBM Plex Mono Regular" pitchFamily="34" charset="-120"/>
              </a:rPr>
              <a:t>THE OPPORTUNITY</a:t>
            </a:r>
            <a:endParaRPr lang="en-US" sz="1650" dirty="0"/>
          </a:p>
        </p:txBody>
      </p:sp>
      <p:sp>
        <p:nvSpPr>
          <p:cNvPr id="9" name="Text 3"/>
          <p:cNvSpPr/>
          <p:nvPr/>
        </p:nvSpPr>
        <p:spPr>
          <a:xfrm>
            <a:off x="822961" y="1165860"/>
            <a:ext cx="16202025" cy="1390650"/>
          </a:xfrm>
          <a:prstGeom prst="rect">
            <a:avLst/>
          </a:prstGeom>
          <a:noFill/>
          <a:ln/>
        </p:spPr>
        <p:txBody>
          <a:bodyPr wrap="square" lIns="0" tIns="0" rIns="0" bIns="0" rtlCol="0" anchor="t"/>
          <a:lstStyle/>
          <a:p>
            <a:pPr algn="l" indent="0" marL="0">
              <a:lnSpc>
                <a:spcPts val="5325"/>
              </a:lnSpc>
              <a:buNone/>
            </a:pPr>
            <a:r>
              <a:rPr lang="en-US" sz="4500" dirty="0">
                <a:solidFill>
                  <a:srgbClr val="074B4E"/>
                </a:solidFill>
                <a:latin typeface="Inter Regular" pitchFamily="34" charset="0"/>
                <a:ea typeface="Inter Regular" pitchFamily="34" charset="-122"/>
                <a:cs typeface="Inter Regular" pitchFamily="34" charset="-120"/>
              </a:rPr>
              <a:t>Every major asset class has transformed electronically. Swaps are next.</a:t>
            </a:r>
            <a:endParaRPr lang="en-US" sz="4500" dirty="0"/>
          </a:p>
        </p:txBody>
      </p:sp>
      <p:sp>
        <p:nvSpPr>
          <p:cNvPr id="10" name="Text 4"/>
          <p:cNvSpPr/>
          <p:nvPr/>
        </p:nvSpPr>
        <p:spPr>
          <a:xfrm>
            <a:off x="822961" y="3190875"/>
            <a:ext cx="7829550" cy="1333500"/>
          </a:xfrm>
          <a:prstGeom prst="rect">
            <a:avLst/>
          </a:prstGeom>
          <a:noFill/>
          <a:ln/>
        </p:spPr>
        <p:txBody>
          <a:bodyPr wrap="square" lIns="0" tIns="0" rIns="0" bIns="0" rtlCol="0" anchor="ctr"/>
          <a:lstStyle/>
          <a:p>
            <a:pPr algn="l" indent="0" marL="0">
              <a:lnSpc>
                <a:spcPts val="10350"/>
              </a:lnSpc>
              <a:buNone/>
            </a:pPr>
            <a:r>
              <a:rPr lang="en-US" sz="8700" dirty="0">
                <a:solidFill>
                  <a:srgbClr val="074B4E"/>
                </a:solidFill>
                <a:latin typeface="Inter Regular" pitchFamily="34" charset="0"/>
                <a:ea typeface="Inter Regular" pitchFamily="34" charset="-122"/>
                <a:cs typeface="Inter Regular" pitchFamily="34" charset="-120"/>
              </a:rPr>
              <a:t>$590 Trillion</a:t>
            </a:r>
            <a:endParaRPr lang="en-US" sz="8700" dirty="0"/>
          </a:p>
        </p:txBody>
      </p:sp>
      <p:sp>
        <p:nvSpPr>
          <p:cNvPr id="11" name="Text 5"/>
          <p:cNvSpPr/>
          <p:nvPr/>
        </p:nvSpPr>
        <p:spPr>
          <a:xfrm>
            <a:off x="822961" y="4526280"/>
            <a:ext cx="7353300" cy="276225"/>
          </a:xfrm>
          <a:prstGeom prst="rect">
            <a:avLst/>
          </a:prstGeom>
          <a:noFill/>
          <a:ln/>
        </p:spPr>
        <p:txBody>
          <a:bodyPr wrap="square" lIns="0" tIns="0" rIns="0" bIns="0" rtlCol="0" anchor="t"/>
          <a:lstStyle/>
          <a:p>
            <a:pPr algn="l" indent="0" marL="0">
              <a:lnSpc>
                <a:spcPts val="2175"/>
              </a:lnSpc>
              <a:buNone/>
            </a:pPr>
            <a:r>
              <a:rPr lang="en-US" sz="1800" dirty="0">
                <a:solidFill>
                  <a:srgbClr val="33433E"/>
                </a:solidFill>
                <a:latin typeface="Inter Regular" pitchFamily="34" charset="0"/>
                <a:ea typeface="Inter Regular" pitchFamily="34" charset="-122"/>
                <a:cs typeface="Inter Regular" pitchFamily="34" charset="-120"/>
              </a:rPr>
              <a:t>*OTC interest rate derivatives notional outstanding, 2025</a:t>
            </a:r>
            <a:endParaRPr lang="en-US" sz="1800" dirty="0"/>
          </a:p>
        </p:txBody>
      </p:sp>
      <p:sp>
        <p:nvSpPr>
          <p:cNvPr id="12" name="Text 6"/>
          <p:cNvSpPr/>
          <p:nvPr/>
        </p:nvSpPr>
        <p:spPr>
          <a:xfrm>
            <a:off x="822961" y="5389245"/>
            <a:ext cx="6877050" cy="1333500"/>
          </a:xfrm>
          <a:prstGeom prst="rect">
            <a:avLst/>
          </a:prstGeom>
          <a:noFill/>
          <a:ln/>
        </p:spPr>
        <p:txBody>
          <a:bodyPr wrap="square" lIns="0" tIns="0" rIns="0" bIns="0" rtlCol="0" anchor="ctr"/>
          <a:lstStyle/>
          <a:p>
            <a:pPr algn="l" indent="0" marL="0">
              <a:lnSpc>
                <a:spcPts val="10350"/>
              </a:lnSpc>
              <a:buNone/>
            </a:pPr>
            <a:r>
              <a:rPr lang="en-US" sz="8700" dirty="0">
                <a:solidFill>
                  <a:srgbClr val="187A5E"/>
                </a:solidFill>
                <a:latin typeface="Inter Regular" pitchFamily="34" charset="0"/>
                <a:ea typeface="Inter Regular" pitchFamily="34" charset="-122"/>
                <a:cs typeface="Inter Regular" pitchFamily="34" charset="-120"/>
              </a:rPr>
              <a:t>$7.9 Trillion</a:t>
            </a:r>
            <a:endParaRPr lang="en-US" sz="8700" dirty="0"/>
          </a:p>
        </p:txBody>
      </p:sp>
      <p:sp>
        <p:nvSpPr>
          <p:cNvPr id="13" name="Text 7"/>
          <p:cNvSpPr/>
          <p:nvPr/>
        </p:nvSpPr>
        <p:spPr>
          <a:xfrm>
            <a:off x="822961" y="6720840"/>
            <a:ext cx="7353300" cy="276225"/>
          </a:xfrm>
          <a:prstGeom prst="rect">
            <a:avLst/>
          </a:prstGeom>
          <a:noFill/>
          <a:ln/>
        </p:spPr>
        <p:txBody>
          <a:bodyPr wrap="square" lIns="0" tIns="0" rIns="0" bIns="0" rtlCol="0" anchor="t"/>
          <a:lstStyle/>
          <a:p>
            <a:pPr algn="l" indent="0" marL="0">
              <a:lnSpc>
                <a:spcPts val="2175"/>
              </a:lnSpc>
              <a:buNone/>
            </a:pPr>
            <a:r>
              <a:rPr lang="en-US" sz="1800" dirty="0">
                <a:solidFill>
                  <a:srgbClr val="33433E"/>
                </a:solidFill>
                <a:latin typeface="Inter Regular" pitchFamily="34" charset="0"/>
                <a:ea typeface="Inter Regular" pitchFamily="34" charset="-122"/>
                <a:cs typeface="Inter Regular" pitchFamily="34" charset="-120"/>
              </a:rPr>
              <a:t>* Average daily OTC interest rate derivatives turnover, 2025</a:t>
            </a:r>
            <a:endParaRPr lang="en-US" sz="1800" dirty="0"/>
          </a:p>
        </p:txBody>
      </p:sp>
      <p:sp>
        <p:nvSpPr>
          <p:cNvPr id="14" name="Text 18"/>
          <p:cNvSpPr/>
          <p:nvPr/>
        </p:nvSpPr>
        <p:spPr>
          <a:xfrm>
            <a:off x="1600200" y="7698105"/>
            <a:ext cx="15525750" cy="914400"/>
          </a:xfrm>
          <a:prstGeom prst="rect">
            <a:avLst/>
          </a:prstGeom>
          <a:noFill/>
          <a:ln/>
        </p:spPr>
        <p:txBody>
          <a:bodyPr wrap="square" lIns="0" tIns="0" rIns="0" bIns="0" rtlCol="0" anchor="ctr"/>
          <a:lstStyle/>
          <a:p>
            <a:pPr algn="l" indent="0" marL="0">
              <a:lnSpc>
                <a:spcPts val="3600"/>
              </a:lnSpc>
              <a:buNone/>
            </a:pPr>
            <a:r>
              <a:rPr lang="en-US" sz="3000" dirty="0">
                <a:solidFill>
                  <a:srgbClr val="FFFFFF"/>
                </a:solidFill>
                <a:latin typeface="Inter Regular" pitchFamily="34" charset="0"/>
                <a:ea typeface="Inter Regular" pitchFamily="34" charset="-122"/>
                <a:cs typeface="Inter Regular" pitchFamily="34" charset="-120"/>
              </a:rPr>
              <a:t>The world's largest participants demand efficiency: tighter pricing, open access, and anonymous execution. </a:t>
            </a:r>
            <a:pPr algn="l" indent="0" marL="0">
              <a:lnSpc>
                <a:spcPts val="3600"/>
              </a:lnSpc>
              <a:buNone/>
            </a:pPr>
            <a:r>
              <a:rPr lang="en-US" sz="3000" b="1" dirty="0">
                <a:solidFill>
                  <a:srgbClr val="FFFFFF"/>
                </a:solidFill>
                <a:latin typeface="Inter Bold" pitchFamily="34" charset="0"/>
                <a:ea typeface="Inter Bold" pitchFamily="34" charset="-122"/>
                <a:cs typeface="Inter Bold" pitchFamily="34" charset="-120"/>
              </a:rPr>
              <a:t>OMeT delivers</a:t>
            </a:r>
            <a:pPr algn="l" indent="0" marL="0">
              <a:lnSpc>
                <a:spcPts val="3600"/>
              </a:lnSpc>
              <a:buNone/>
            </a:pPr>
            <a:r>
              <a:rPr lang="en-US" sz="3000" dirty="0">
                <a:solidFill>
                  <a:srgbClr val="FFFFFF"/>
                </a:solidFill>
                <a:latin typeface="Inter Regular" pitchFamily="34" charset="0"/>
                <a:ea typeface="Inter Regular" pitchFamily="34" charset="-122"/>
                <a:cs typeface="Inter Regular" pitchFamily="34" charset="-120"/>
              </a:rPr>
              <a:t>.</a:t>
            </a:r>
            <a:endParaRPr lang="en-US" sz="3000" dirty="0"/>
          </a:p>
        </p:txBody>
      </p:sp>
      <p:sp>
        <p:nvSpPr>
          <p:cNvPr id="15" name="Text 19"/>
          <p:cNvSpPr/>
          <p:nvPr/>
        </p:nvSpPr>
        <p:spPr>
          <a:xfrm>
            <a:off x="914400" y="9096375"/>
            <a:ext cx="16478250" cy="209550"/>
          </a:xfrm>
          <a:prstGeom prst="rect">
            <a:avLst/>
          </a:prstGeom>
          <a:noFill/>
          <a:ln/>
        </p:spPr>
        <p:txBody>
          <a:bodyPr wrap="square" lIns="0" tIns="0" rIns="0" bIns="0" rtlCol="0" anchor="t"/>
          <a:lstStyle/>
          <a:p>
            <a:pPr algn="l" indent="0" marL="0">
              <a:lnSpc>
                <a:spcPts val="1575"/>
              </a:lnSpc>
              <a:buNone/>
            </a:pPr>
            <a:r>
              <a:rPr lang="en-US" sz="1350" i="1" dirty="0">
                <a:solidFill>
                  <a:srgbClr val="5B6B66"/>
                </a:solidFill>
                <a:latin typeface="Inter Italic" pitchFamily="34" charset="0"/>
                <a:ea typeface="Inter Italic" pitchFamily="34" charset="-122"/>
                <a:cs typeface="Inter Italic" pitchFamily="34" charset="-120"/>
              </a:rPr>
              <a:t>Sources: *BIS Triennial Central Bank Survey, April 2025 (turnover); ISDA analysis of BIS OTC derivatives statistics, H2 2025 (notional).</a:t>
            </a:r>
            <a:endParaRPr lang="en-US" sz="1350" dirty="0"/>
          </a:p>
        </p:txBody>
      </p:sp>
      <p:sp>
        <p:nvSpPr>
          <p:cNvPr id="16" name="Markets migrate toward transparency automation open access and lower friction OMeT has built the market structure layer for the worlds largest asset class"/>
          <p:cNvSpPr/>
          <p:nvPr/>
        </p:nvSpPr>
        <p:spPr>
          <a:xfrm>
            <a:off x="9191625" y="3819525"/>
            <a:ext cx="7858125" cy="1952625"/>
          </a:xfrm>
          <a:prstGeom prst="rect">
            <a:avLst/>
          </a:prstGeom>
          <a:noFill/>
          <a:ln/>
        </p:spPr>
        <p:txBody>
          <a:bodyPr wrap="square" lIns="0" tIns="0" rIns="0" bIns="0" rtlCol="0" anchor="t"/>
          <a:lstStyle/>
          <a:p>
            <a:pPr algn="l" indent="0" marL="0">
              <a:lnSpc>
                <a:spcPct val="100988"/>
              </a:lnSpc>
              <a:buNone/>
            </a:pPr>
            <a:r>
              <a:rPr lang="en-US" sz="2550" dirty="0">
                <a:solidFill>
                  <a:srgbClr val="4E9F9D"/>
                </a:solidFill>
                <a:latin typeface="Inter Regular" pitchFamily="34" charset="0"/>
                <a:ea typeface="Inter Regular" pitchFamily="34" charset="-122"/>
                <a:cs typeface="Inter Regular" pitchFamily="34" charset="-120"/>
              </a:rPr>
              <a:t>Markets migrate toward transparency, automation, open access, and lower friction. </a:t>
            </a:r>
            <a:pPr algn="l" indent="0" marL="0">
              <a:lnSpc>
                <a:spcPct val="100988"/>
              </a:lnSpc>
              <a:buNone/>
            </a:pPr>
            <a:endParaRPr lang="en-US" sz="2550" dirty="0"/>
          </a:p>
          <a:p>
            <a:pPr algn="l" indent="0" marL="0">
              <a:lnSpc>
                <a:spcPct val="100988"/>
              </a:lnSpc>
              <a:buNone/>
            </a:pPr>
            <a:endParaRPr lang="en-US" sz="2550" dirty="0"/>
          </a:p>
          <a:p>
            <a:pPr algn="l" indent="0" marL="0">
              <a:lnSpc>
                <a:spcPct val="100988"/>
              </a:lnSpc>
              <a:buNone/>
            </a:pPr>
            <a:r>
              <a:rPr lang="en-US" sz="2550" b="1" dirty="0">
                <a:solidFill>
                  <a:srgbClr val="4E9F9D"/>
                </a:solidFill>
                <a:latin typeface="Inter Bold" pitchFamily="34" charset="0"/>
                <a:ea typeface="Inter Bold" pitchFamily="34" charset="-122"/>
                <a:cs typeface="Inter Bold" pitchFamily="34" charset="-120"/>
              </a:rPr>
              <a:t>OMeT</a:t>
            </a:r>
            <a:pPr algn="l" indent="0" marL="0">
              <a:lnSpc>
                <a:spcPct val="100988"/>
              </a:lnSpc>
              <a:buNone/>
            </a:pPr>
            <a:r>
              <a:rPr lang="en-US" sz="2550" dirty="0">
                <a:solidFill>
                  <a:srgbClr val="4E9F9D"/>
                </a:solidFill>
                <a:latin typeface="Inter Regular" pitchFamily="34" charset="0"/>
                <a:ea typeface="Inter Regular" pitchFamily="34" charset="-122"/>
                <a:cs typeface="Inter Regular" pitchFamily="34" charset="-120"/>
              </a:rPr>
              <a:t> has built the market structure layer for the world's largest asset class.</a:t>
            </a:r>
            <a:endParaRPr lang="en-US" sz="2550" dirty="0"/>
          </a:p>
        </p:txBody>
      </p:sp>
      <p:sp>
        <p:nvSpPr>
          <p:cNvPr id="17" name="SEPTEMBER 2026"/>
          <p:cNvSpPr/>
          <p:nvPr/>
        </p:nvSpPr>
        <p:spPr>
          <a:xfrm>
            <a:off x="15678150" y="964882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54BABE"/>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18" name="Text 8"/>
          <p:cNvSpPr/>
          <p:nvPr/>
        </p:nvSpPr>
        <p:spPr>
          <a:xfrm>
            <a:off x="752475" y="962977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2E8B7A"/>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3"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Shape with text" descr="preencoded.png">    </p:cNvPr>
          <p:cNvPicPr>
            <a:picLocks noChangeAspect="1"/>
          </p:cNvPicPr>
          <p:nvPr/>
        </p:nvPicPr>
        <p:blipFill>
          <a:blip r:embed="rId2">
            <a:extLst>
              <a:ext uri="{96DAC541-7B7A-43D3-8B79-37D633B846F1}">
                <asvg:svgBlip xmlns:asvg="http://schemas.microsoft.com/office/drawing/2016/SVG/main" r:embed="rId3"/>
              </a:ext>
            </a:extLst>
          </a:blip>
          <a:srcRect l="0" r="0" t="0" b="0"/>
          <a:stretch/>
        </p:blipFill>
        <p:spPr>
          <a:xfrm>
            <a:off x="0" y="0"/>
            <a:ext cx="18288000" cy="10287000"/>
          </a:xfrm>
          <a:prstGeom prst="rect">
            <a:avLst/>
          </a:prstGeom>
        </p:spPr>
      </p:pic>
      <p:pic>
        <p:nvPicPr>
          <p:cNvPr id="5" name="image-4-2.png" descr="preencoded.png">    </p:cNvPr>
          <p:cNvPicPr>
            <a:picLocks noChangeAspect="1"/>
          </p:cNvPicPr>
          <p:nvPr/>
        </p:nvPicPr>
        <p:blipFill>
          <a:blip r:embed="rId4"/>
          <a:srcRect l="0" r="0" t="0" b="0"/>
          <a:stretch/>
        </p:blipFill>
        <p:spPr>
          <a:xfrm>
            <a:off x="16024408" y="520957"/>
            <a:ext cx="1438345" cy="390776"/>
          </a:xfrm>
          <a:prstGeom prst="rect">
            <a:avLst/>
          </a:prstGeom>
        </p:spPr>
      </p:pic>
      <p:pic>
        <p:nvPicPr>
          <p:cNvPr id="6" name="Shape 4" descr="preencoded.png">    </p:cNvPr>
          <p:cNvPicPr>
            <a:picLocks noChangeAspect="1"/>
          </p:cNvPicPr>
          <p:nvPr/>
        </p:nvPicPr>
        <p:blipFill>
          <a:blip r:embed="rId5"/>
          <a:srcRect l="0" r="0" t="0" b="0"/>
          <a:stretch/>
        </p:blipFill>
        <p:spPr>
          <a:xfrm>
            <a:off x="594378" y="3264297"/>
            <a:ext cx="5601142" cy="3267925"/>
          </a:xfrm>
          <a:prstGeom prst="rect">
            <a:avLst/>
          </a:prstGeom>
        </p:spPr>
      </p:pic>
      <p:pic>
        <p:nvPicPr>
          <p:cNvPr id="7" name="Shape 5" descr="preencoded.png">    </p:cNvPr>
          <p:cNvPicPr>
            <a:picLocks noChangeAspect="1"/>
          </p:cNvPicPr>
          <p:nvPr/>
        </p:nvPicPr>
        <p:blipFill>
          <a:blip r:embed="rId6">
            <a:extLst>
              <a:ext uri="{96DAC541-7B7A-43D3-8B79-37D633B846F1}">
                <asvg:svgBlip xmlns:asvg="http://schemas.microsoft.com/office/drawing/2016/SVG/main" r:embed="rId7"/>
              </a:ext>
            </a:extLst>
          </a:blip>
          <a:srcRect l="0" r="0" t="0" b="0"/>
          <a:stretch/>
        </p:blipFill>
        <p:spPr>
          <a:xfrm>
            <a:off x="1207015" y="3820537"/>
            <a:ext cx="752606" cy="752606"/>
          </a:xfrm>
          <a:prstGeom prst="rect">
            <a:avLst/>
          </a:prstGeom>
        </p:spPr>
      </p:pic>
      <p:pic>
        <p:nvPicPr>
          <p:cNvPr id="8" name="image-4-3.png" descr="preencoded.png">    </p:cNvPr>
          <p:cNvPicPr>
            <a:picLocks noChangeAspect="1"/>
          </p:cNvPicPr>
          <p:nvPr/>
        </p:nvPicPr>
        <p:blipFill>
          <a:blip r:embed="rId8"/>
          <a:srcRect l="0" r="0" t="0" b="0"/>
          <a:stretch/>
        </p:blipFill>
        <p:spPr>
          <a:xfrm>
            <a:off x="1378465" y="3992046"/>
            <a:ext cx="409646" cy="409647"/>
          </a:xfrm>
          <a:prstGeom prst="rect">
            <a:avLst/>
          </a:prstGeom>
        </p:spPr>
      </p:pic>
      <p:pic>
        <p:nvPicPr>
          <p:cNvPr id="9" name="Group 2" descr="preencoded.png">    </p:cNvPr>
          <p:cNvPicPr>
            <a:picLocks noChangeAspect="1"/>
          </p:cNvPicPr>
          <p:nvPr/>
        </p:nvPicPr>
        <p:blipFill>
          <a:blip r:embed="rId9"/>
          <a:srcRect l="0" r="0" t="0" b="0"/>
          <a:stretch/>
        </p:blipFill>
        <p:spPr>
          <a:xfrm>
            <a:off x="6153173" y="3256676"/>
            <a:ext cx="5601142" cy="3267925"/>
          </a:xfrm>
          <a:prstGeom prst="rect">
            <a:avLst/>
          </a:prstGeom>
        </p:spPr>
      </p:pic>
      <p:pic>
        <p:nvPicPr>
          <p:cNvPr id="10" name="Shape 12" descr="preencoded.png">    </p:cNvPr>
          <p:cNvPicPr>
            <a:picLocks noChangeAspect="1"/>
          </p:cNvPicPr>
          <p:nvPr/>
        </p:nvPicPr>
        <p:blipFill>
          <a:blip r:embed="rId10"/>
          <a:srcRect l="0" r="0" t="0" b="0"/>
          <a:stretch/>
        </p:blipFill>
        <p:spPr>
          <a:xfrm>
            <a:off x="11715773" y="3218576"/>
            <a:ext cx="5601142" cy="3267925"/>
          </a:xfrm>
          <a:prstGeom prst="rect">
            <a:avLst/>
          </a:prstGeom>
        </p:spPr>
      </p:pic>
      <p:pic>
        <p:nvPicPr>
          <p:cNvPr id="11" name="Shape 13"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12328410" y="3774817"/>
            <a:ext cx="752606" cy="752606"/>
          </a:xfrm>
          <a:prstGeom prst="rect">
            <a:avLst/>
          </a:prstGeom>
        </p:spPr>
      </p:pic>
      <p:pic>
        <p:nvPicPr>
          <p:cNvPr id="12" name="image-4-5.png" descr="preencoded.png">    </p:cNvPr>
          <p:cNvPicPr>
            <a:picLocks noChangeAspect="1"/>
          </p:cNvPicPr>
          <p:nvPr/>
        </p:nvPicPr>
        <p:blipFill>
          <a:blip r:embed="rId13"/>
          <a:srcRect l="0" r="0" t="0" b="0"/>
          <a:stretch/>
        </p:blipFill>
        <p:spPr>
          <a:xfrm>
            <a:off x="12499860" y="3946327"/>
            <a:ext cx="409646" cy="409647"/>
          </a:xfrm>
          <a:prstGeom prst="rect">
            <a:avLst/>
          </a:prstGeom>
        </p:spPr>
      </p:pic>
      <p:sp>
        <p:nvSpPr>
          <p:cNvPr id="13" name="Text 0"/>
          <p:cNvSpPr/>
          <p:nvPr/>
        </p:nvSpPr>
        <p:spPr>
          <a:xfrm>
            <a:off x="822954" y="647510"/>
            <a:ext cx="8248650" cy="276225"/>
          </a:xfrm>
          <a:prstGeom prst="rect">
            <a:avLst/>
          </a:prstGeom>
          <a:noFill/>
          <a:ln/>
        </p:spPr>
        <p:txBody>
          <a:bodyPr wrap="square" lIns="0" tIns="0" rIns="0" bIns="0" rtlCol="0" anchor="ctr"/>
          <a:lstStyle/>
          <a:p>
            <a:pPr algn="l" indent="0" marL="0">
              <a:lnSpc>
                <a:spcPts val="2175"/>
              </a:lnSpc>
              <a:buNone/>
            </a:pPr>
            <a:r>
              <a:rPr lang="en-US" sz="1650" dirty="0">
                <a:solidFill>
                  <a:srgbClr val="187A5E"/>
                </a:solidFill>
                <a:latin typeface="IBM Plex Mono Regular" pitchFamily="34" charset="0"/>
                <a:ea typeface="IBM Plex Mono Regular" pitchFamily="34" charset="-122"/>
                <a:cs typeface="IBM Plex Mono Regular" pitchFamily="34" charset="-120"/>
              </a:rPr>
              <a:t>WHY NOW, WHY OMeT</a:t>
            </a:r>
            <a:endParaRPr lang="en-US" sz="1650" dirty="0"/>
          </a:p>
        </p:txBody>
      </p:sp>
      <p:sp>
        <p:nvSpPr>
          <p:cNvPr id="14" name="Text 3"/>
          <p:cNvSpPr/>
          <p:nvPr/>
        </p:nvSpPr>
        <p:spPr>
          <a:xfrm>
            <a:off x="800100" y="1219200"/>
            <a:ext cx="14839950" cy="1390650"/>
          </a:xfrm>
          <a:prstGeom prst="rect">
            <a:avLst/>
          </a:prstGeom>
          <a:noFill/>
          <a:ln/>
        </p:spPr>
        <p:txBody>
          <a:bodyPr wrap="square" lIns="0" tIns="0" rIns="0" bIns="0" rtlCol="0" anchor="t"/>
          <a:lstStyle/>
          <a:p>
            <a:pPr algn="l" indent="0" marL="0">
              <a:lnSpc>
                <a:spcPts val="5325"/>
              </a:lnSpc>
              <a:buNone/>
            </a:pPr>
            <a:r>
              <a:rPr lang="en-US" sz="4500" dirty="0">
                <a:solidFill>
                  <a:srgbClr val="074B4E"/>
                </a:solidFill>
                <a:latin typeface="Inter Regular" pitchFamily="34" charset="0"/>
                <a:ea typeface="Inter Regular" pitchFamily="34" charset="-122"/>
                <a:cs typeface="Inter Regular" pitchFamily="34" charset="-120"/>
              </a:rPr>
              <a:t>The modernization of this market was inevitable. </a:t>
            </a:r>
            <a:pPr algn="l" indent="0" marL="0">
              <a:lnSpc>
                <a:spcPts val="5325"/>
              </a:lnSpc>
              <a:buNone/>
            </a:pPr>
            <a:endParaRPr lang="en-US" sz="4500" dirty="0"/>
          </a:p>
          <a:p>
            <a:pPr algn="l" indent="0" marL="0">
              <a:lnSpc>
                <a:spcPts val="5325"/>
              </a:lnSpc>
              <a:buNone/>
            </a:pPr>
            <a:r>
              <a:rPr lang="en-US" sz="4500" dirty="0">
                <a:solidFill>
                  <a:srgbClr val="074B4E"/>
                </a:solidFill>
                <a:latin typeface="Inter Regular" pitchFamily="34" charset="0"/>
                <a:ea typeface="Inter Regular" pitchFamily="34" charset="-122"/>
                <a:cs typeface="Inter Regular" pitchFamily="34" charset="-120"/>
              </a:rPr>
              <a:t>The only question was when. The answer is now.</a:t>
            </a:r>
            <a:endParaRPr lang="en-US" sz="4500" dirty="0"/>
          </a:p>
        </p:txBody>
      </p:sp>
      <p:sp>
        <p:nvSpPr>
          <p:cNvPr id="15" name="Text 6"/>
          <p:cNvSpPr/>
          <p:nvPr/>
        </p:nvSpPr>
        <p:spPr>
          <a:xfrm>
            <a:off x="2194554" y="3825430"/>
            <a:ext cx="3524250" cy="723900"/>
          </a:xfrm>
          <a:prstGeom prst="rect">
            <a:avLst/>
          </a:prstGeom>
          <a:noFill/>
          <a:ln/>
        </p:spPr>
        <p:txBody>
          <a:bodyPr wrap="square" lIns="0" tIns="0" rIns="0" bIns="0" rtlCol="0" anchor="ctr"/>
          <a:lstStyle/>
          <a:p>
            <a:pPr algn="l" indent="0" marL="0">
              <a:lnSpc>
                <a:spcPts val="2775"/>
              </a:lnSpc>
              <a:buNone/>
            </a:pPr>
            <a:r>
              <a:rPr lang="en-US" sz="2325" b="1" dirty="0">
                <a:solidFill>
                  <a:srgbClr val="074B4E"/>
                </a:solidFill>
                <a:latin typeface="Inter Bold" pitchFamily="34" charset="0"/>
                <a:ea typeface="Inter Bold" pitchFamily="34" charset="-122"/>
                <a:cs typeface="Inter Bold" pitchFamily="34" charset="-120"/>
              </a:rPr>
              <a:t>Regulation favors our model</a:t>
            </a:r>
            <a:endParaRPr lang="en-US" sz="2325" dirty="0"/>
          </a:p>
        </p:txBody>
      </p:sp>
      <p:sp>
        <p:nvSpPr>
          <p:cNvPr id="16" name="Text 7"/>
          <p:cNvSpPr/>
          <p:nvPr/>
        </p:nvSpPr>
        <p:spPr>
          <a:xfrm>
            <a:off x="1207015" y="4808220"/>
            <a:ext cx="4391025" cy="885825"/>
          </a:xfrm>
          <a:prstGeom prst="rect">
            <a:avLst/>
          </a:prstGeom>
          <a:noFill/>
          <a:ln/>
        </p:spPr>
        <p:txBody>
          <a:bodyPr wrap="square" lIns="0" tIns="0" rIns="0" bIns="0" rtlCol="0" anchor="t"/>
          <a:lstStyle/>
          <a:p>
            <a:pPr algn="l" indent="0" marL="0">
              <a:lnSpc>
                <a:spcPts val="2325"/>
              </a:lnSpc>
              <a:buNone/>
            </a:pPr>
            <a:r>
              <a:rPr lang="en-US" sz="1950" dirty="0">
                <a:solidFill>
                  <a:srgbClr val="33433E"/>
                </a:solidFill>
                <a:latin typeface="Inter Regular" pitchFamily="34" charset="0"/>
                <a:ea typeface="Inter Regular" pitchFamily="34" charset="-122"/>
                <a:cs typeface="Inter Regular" pitchFamily="34" charset="-120"/>
              </a:rPr>
              <a:t>CFTC rules on impartial access and anonymous cleared execution support the OMeT model. </a:t>
            </a:r>
            <a:endParaRPr lang="en-US" sz="1950" dirty="0"/>
          </a:p>
        </p:txBody>
      </p:sp>
      <p:sp>
        <p:nvSpPr>
          <p:cNvPr id="17" name="Text 10"/>
          <p:cNvSpPr/>
          <p:nvPr/>
        </p:nvSpPr>
        <p:spPr>
          <a:xfrm>
            <a:off x="7753350" y="4026955"/>
            <a:ext cx="3526155" cy="323631"/>
          </a:xfrm>
          <a:prstGeom prst="rect">
            <a:avLst/>
          </a:prstGeom>
          <a:noFill/>
          <a:ln/>
        </p:spPr>
        <p:txBody>
          <a:bodyPr wrap="square" lIns="0" tIns="0" rIns="0" bIns="0" rtlCol="0" anchor="ctr"/>
          <a:lstStyle/>
          <a:p>
            <a:pPr algn="l" indent="0" marL="0">
              <a:lnSpc>
                <a:spcPts val="2775"/>
              </a:lnSpc>
              <a:buNone/>
            </a:pPr>
            <a:r>
              <a:rPr lang="en-US" sz="2325" b="1" dirty="0">
                <a:solidFill>
                  <a:srgbClr val="074B4E"/>
                </a:solidFill>
                <a:latin typeface="Inter Bold" pitchFamily="34" charset="0"/>
                <a:ea typeface="Inter Bold" pitchFamily="34" charset="-122"/>
                <a:cs typeface="Inter Bold" pitchFamily="34" charset="-120"/>
              </a:rPr>
              <a:t>The Clearing Mandate</a:t>
            </a:r>
            <a:endParaRPr lang="en-US" sz="2325" dirty="0"/>
          </a:p>
        </p:txBody>
      </p:sp>
      <p:sp>
        <p:nvSpPr>
          <p:cNvPr id="18" name="Text 11"/>
          <p:cNvSpPr/>
          <p:nvPr/>
        </p:nvSpPr>
        <p:spPr>
          <a:xfrm>
            <a:off x="6765792" y="4799671"/>
            <a:ext cx="4394454" cy="552076"/>
          </a:xfrm>
          <a:prstGeom prst="rect">
            <a:avLst/>
          </a:prstGeom>
          <a:noFill/>
          <a:ln/>
        </p:spPr>
        <p:txBody>
          <a:bodyPr wrap="square" lIns="0" tIns="0" rIns="0" bIns="0" rtlCol="0" anchor="t"/>
          <a:lstStyle/>
          <a:p>
            <a:pPr algn="l" indent="0" marL="0">
              <a:lnSpc>
                <a:spcPts val="2325"/>
              </a:lnSpc>
              <a:buNone/>
            </a:pPr>
            <a:r>
              <a:rPr lang="en-US" sz="1950" dirty="0">
                <a:solidFill>
                  <a:srgbClr val="33433E"/>
                </a:solidFill>
                <a:latin typeface="Inter Regular" pitchFamily="34" charset="0"/>
                <a:ea typeface="Inter Regular" pitchFamily="34" charset="-122"/>
                <a:cs typeface="Inter Regular" pitchFamily="34" charset="-120"/>
              </a:rPr>
              <a:t>Central clearing is now the market standard.</a:t>
            </a:r>
            <a:endParaRPr lang="en-US" sz="1950" dirty="0"/>
          </a:p>
        </p:txBody>
      </p:sp>
      <p:sp>
        <p:nvSpPr>
          <p:cNvPr id="19" name="Text 14"/>
          <p:cNvSpPr/>
          <p:nvPr/>
        </p:nvSpPr>
        <p:spPr>
          <a:xfrm>
            <a:off x="13315950" y="3970211"/>
            <a:ext cx="3524250" cy="361950"/>
          </a:xfrm>
          <a:prstGeom prst="rect">
            <a:avLst/>
          </a:prstGeom>
          <a:noFill/>
          <a:ln/>
        </p:spPr>
        <p:txBody>
          <a:bodyPr wrap="square" lIns="0" tIns="0" rIns="0" bIns="0" rtlCol="0" anchor="ctr"/>
          <a:lstStyle/>
          <a:p>
            <a:pPr algn="l" indent="0" marL="0">
              <a:lnSpc>
                <a:spcPts val="2775"/>
              </a:lnSpc>
              <a:buNone/>
            </a:pPr>
            <a:r>
              <a:rPr lang="en-US" sz="2325" b="1" dirty="0">
                <a:solidFill>
                  <a:srgbClr val="074B4E"/>
                </a:solidFill>
                <a:latin typeface="Inter Bold" pitchFamily="34" charset="0"/>
                <a:ea typeface="Inter Bold" pitchFamily="34" charset="-122"/>
                <a:cs typeface="Inter Bold" pitchFamily="34" charset="-120"/>
              </a:rPr>
              <a:t>Neutral by design</a:t>
            </a:r>
            <a:endParaRPr lang="en-US" sz="2325" dirty="0"/>
          </a:p>
        </p:txBody>
      </p:sp>
      <p:sp>
        <p:nvSpPr>
          <p:cNvPr id="20" name="Text 15"/>
          <p:cNvSpPr/>
          <p:nvPr/>
        </p:nvSpPr>
        <p:spPr>
          <a:xfrm>
            <a:off x="12328410" y="4762500"/>
            <a:ext cx="4391025" cy="885825"/>
          </a:xfrm>
          <a:prstGeom prst="rect">
            <a:avLst/>
          </a:prstGeom>
          <a:noFill/>
          <a:ln/>
        </p:spPr>
        <p:txBody>
          <a:bodyPr wrap="square" lIns="0" tIns="0" rIns="0" bIns="0" rtlCol="0" anchor="t"/>
          <a:lstStyle/>
          <a:p>
            <a:pPr algn="l" indent="0" marL="0">
              <a:lnSpc>
                <a:spcPts val="2325"/>
              </a:lnSpc>
              <a:buNone/>
            </a:pPr>
            <a:r>
              <a:rPr lang="en-US" sz="1950" dirty="0">
                <a:solidFill>
                  <a:srgbClr val="33433E"/>
                </a:solidFill>
                <a:latin typeface="Inter Regular" pitchFamily="34" charset="0"/>
                <a:ea typeface="Inter Regular" pitchFamily="34" charset="-122"/>
                <a:cs typeface="Inter Regular" pitchFamily="34" charset="-120"/>
              </a:rPr>
              <a:t>Rules-based access with no favored relationships aligns OMeT with every participant.</a:t>
            </a:r>
            <a:endParaRPr lang="en-US" sz="1950" dirty="0"/>
          </a:p>
        </p:txBody>
      </p:sp>
      <p:sp>
        <p:nvSpPr>
          <p:cNvPr id="21" name="OMeT fills the demand"/>
          <p:cNvSpPr/>
          <p:nvPr/>
        </p:nvSpPr>
        <p:spPr>
          <a:xfrm>
            <a:off x="5400675" y="7467600"/>
            <a:ext cx="7543800" cy="695325"/>
          </a:xfrm>
          <a:prstGeom prst="rect">
            <a:avLst/>
          </a:prstGeom>
          <a:noFill/>
          <a:ln/>
        </p:spPr>
        <p:txBody>
          <a:bodyPr wrap="square" lIns="0" tIns="0" rIns="0" bIns="0" rtlCol="0" anchor="t"/>
          <a:lstStyle/>
          <a:p>
            <a:pPr algn="l" indent="0" marL="0">
              <a:buNone/>
            </a:pPr>
            <a:r>
              <a:rPr lang="en-US" sz="5100" b="1" dirty="0">
                <a:solidFill>
                  <a:srgbClr val="074B4E"/>
                </a:solidFill>
                <a:latin typeface="Open Sans Bold" pitchFamily="34" charset="0"/>
                <a:ea typeface="Open Sans Bold" pitchFamily="34" charset="-122"/>
                <a:cs typeface="Open Sans Bold" pitchFamily="34" charset="-120"/>
              </a:rPr>
              <a:t>OMeT</a:t>
            </a:r>
            <a:pPr algn="l" indent="0" marL="0">
              <a:buNone/>
            </a:pPr>
            <a:r>
              <a:rPr lang="en-US" sz="5100" dirty="0">
                <a:solidFill>
                  <a:srgbClr val="074B4E"/>
                </a:solidFill>
                <a:latin typeface="Open Sans Semibold" pitchFamily="34" charset="0"/>
                <a:ea typeface="Open Sans Semibold" pitchFamily="34" charset="-122"/>
                <a:cs typeface="Open Sans Semibold" pitchFamily="34" charset="-120"/>
              </a:rPr>
              <a:t> </a:t>
            </a:r>
            <a:pPr algn="l" indent="0" marL="0">
              <a:buNone/>
            </a:pPr>
            <a:r>
              <a:rPr lang="en-US" sz="5100" dirty="0">
                <a:solidFill>
                  <a:srgbClr val="074B4E"/>
                </a:solidFill>
                <a:latin typeface="Open Sans Regular" pitchFamily="34" charset="0"/>
                <a:ea typeface="Open Sans Regular" pitchFamily="34" charset="-122"/>
                <a:cs typeface="Open Sans Regular" pitchFamily="34" charset="-120"/>
              </a:rPr>
              <a:t>fills the demand.</a:t>
            </a:r>
            <a:endParaRPr lang="en-US" sz="5100" dirty="0"/>
          </a:p>
        </p:txBody>
      </p:sp>
      <p:sp>
        <p:nvSpPr>
          <p:cNvPr id="22" name="SEPTEMBER 2026"/>
          <p:cNvSpPr/>
          <p:nvPr/>
        </p:nvSpPr>
        <p:spPr>
          <a:xfrm>
            <a:off x="15621000" y="970597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54BABE"/>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23" name="Text 8"/>
          <p:cNvSpPr/>
          <p:nvPr/>
        </p:nvSpPr>
        <p:spPr>
          <a:xfrm>
            <a:off x="695325" y="968692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2E8B7A"/>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4"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image 153" descr="preencoded.png">    </p:cNvPr>
          <p:cNvPicPr>
            <a:picLocks noChangeAspect="1"/>
          </p:cNvPicPr>
          <p:nvPr/>
        </p:nvPicPr>
        <p:blipFill>
          <a:blip r:embed="rId2"/>
          <a:srcRect l="0" r="0" t="0" b="0"/>
          <a:stretch/>
        </p:blipFill>
        <p:spPr>
          <a:xfrm>
            <a:off x="0" y="0"/>
            <a:ext cx="18288000" cy="10229850"/>
          </a:xfrm>
          <a:prstGeom prst="rect">
            <a:avLst/>
          </a:prstGeom>
        </p:spPr>
      </p:pic>
      <p:pic>
        <p:nvPicPr>
          <p:cNvPr id="4" name="image-8-1.jpg" descr="preencoded.png">    </p:cNvPr>
          <p:cNvPicPr>
            <a:picLocks noChangeAspect="1"/>
          </p:cNvPicPr>
          <p:nvPr/>
        </p:nvPicPr>
        <p:blipFill>
          <a:blip r:embed="rId3"/>
          <a:srcRect l="0" r="0" t="0" b="0"/>
          <a:stretch/>
        </p:blipFill>
        <p:spPr>
          <a:xfrm>
            <a:off x="0" y="0"/>
            <a:ext cx="18288000" cy="10229850"/>
          </a:xfrm>
          <a:prstGeom prst="rect">
            <a:avLst/>
          </a:prstGeom>
        </p:spPr>
      </p:pic>
      <p:sp>
        <p:nvSpPr>
          <p:cNvPr id="5" name="Rectangle"/>
          <p:cNvSpPr/>
          <p:nvPr/>
        </p:nvSpPr>
        <p:spPr>
          <a:xfrm>
            <a:off x="981075" y="3009900"/>
            <a:ext cx="76200" cy="76200"/>
          </a:xfrm>
          <a:prstGeom prst="rect">
            <a:avLst/>
          </a:prstGeom>
          <a:solidFill>
            <a:srgbClr val="187A5E"/>
          </a:solidFill>
          <a:ln/>
        </p:spPr>
      </p:sp>
      <p:sp>
        <p:nvSpPr>
          <p:cNvPr id="6" name="Rectangle"/>
          <p:cNvSpPr/>
          <p:nvPr/>
        </p:nvSpPr>
        <p:spPr>
          <a:xfrm>
            <a:off x="981075" y="5067300"/>
            <a:ext cx="76200" cy="76200"/>
          </a:xfrm>
          <a:prstGeom prst="rect">
            <a:avLst/>
          </a:prstGeom>
          <a:solidFill>
            <a:srgbClr val="187A5E"/>
          </a:solidFill>
          <a:ln/>
        </p:spPr>
      </p:sp>
      <p:sp>
        <p:nvSpPr>
          <p:cNvPr id="7" name="Rectangle"/>
          <p:cNvSpPr/>
          <p:nvPr/>
        </p:nvSpPr>
        <p:spPr>
          <a:xfrm>
            <a:off x="981075" y="6105525"/>
            <a:ext cx="76200" cy="76200"/>
          </a:xfrm>
          <a:prstGeom prst="rect">
            <a:avLst/>
          </a:prstGeom>
          <a:solidFill>
            <a:srgbClr val="187A5E"/>
          </a:solidFill>
          <a:ln/>
        </p:spPr>
      </p:sp>
      <p:sp>
        <p:nvSpPr>
          <p:cNvPr id="8" name="Rectangle"/>
          <p:cNvSpPr/>
          <p:nvPr/>
        </p:nvSpPr>
        <p:spPr>
          <a:xfrm>
            <a:off x="981075" y="7115175"/>
            <a:ext cx="76200" cy="76200"/>
          </a:xfrm>
          <a:prstGeom prst="rect">
            <a:avLst/>
          </a:prstGeom>
          <a:solidFill>
            <a:srgbClr val="187A5E"/>
          </a:solidFill>
          <a:ln/>
        </p:spPr>
      </p:sp>
      <p:sp>
        <p:nvSpPr>
          <p:cNvPr id="9" name="Rectangle"/>
          <p:cNvSpPr/>
          <p:nvPr/>
        </p:nvSpPr>
        <p:spPr>
          <a:xfrm>
            <a:off x="942975" y="8181975"/>
            <a:ext cx="76200" cy="76200"/>
          </a:xfrm>
          <a:prstGeom prst="rect">
            <a:avLst/>
          </a:prstGeom>
          <a:solidFill>
            <a:srgbClr val="187A5E"/>
          </a:solidFill>
          <a:ln/>
        </p:spPr>
      </p:sp>
      <p:sp>
        <p:nvSpPr>
          <p:cNvPr id="10" name="Rectangle"/>
          <p:cNvSpPr/>
          <p:nvPr/>
        </p:nvSpPr>
        <p:spPr>
          <a:xfrm>
            <a:off x="914400" y="9010650"/>
            <a:ext cx="76200" cy="76200"/>
          </a:xfrm>
          <a:prstGeom prst="rect">
            <a:avLst/>
          </a:prstGeom>
          <a:solidFill>
            <a:srgbClr val="187A5E"/>
          </a:solidFill>
          <a:ln/>
        </p:spPr>
      </p:sp>
      <p:sp>
        <p:nvSpPr>
          <p:cNvPr id="11" name="Rectangle"/>
          <p:cNvSpPr/>
          <p:nvPr/>
        </p:nvSpPr>
        <p:spPr>
          <a:xfrm>
            <a:off x="981075" y="4086225"/>
            <a:ext cx="76200" cy="76200"/>
          </a:xfrm>
          <a:prstGeom prst="rect">
            <a:avLst/>
          </a:prstGeom>
          <a:solidFill>
            <a:srgbClr val="187A5E"/>
          </a:solidFill>
          <a:ln/>
        </p:spPr>
      </p:sp>
      <p:pic>
        <p:nvPicPr>
          <p:cNvPr id="12" name="WO-001 1" descr="preencoded.png">    </p:cNvPr>
          <p:cNvPicPr>
            <a:picLocks noChangeAspect="1"/>
          </p:cNvPicPr>
          <p:nvPr/>
        </p:nvPicPr>
        <p:blipFill>
          <a:blip r:embed="rId4"/>
          <a:srcRect l="0" r="0" t="0" b="0"/>
          <a:stretch/>
        </p:blipFill>
        <p:spPr>
          <a:xfrm>
            <a:off x="11515725" y="2646995"/>
            <a:ext cx="5468289" cy="5373055"/>
          </a:xfrm>
          <a:prstGeom prst="rect">
            <a:avLst/>
          </a:prstGeom>
        </p:spPr>
      </p:pic>
      <p:pic>
        <p:nvPicPr>
          <p:cNvPr id="13" name="image-8-2.png" descr="preencoded.png">    </p:cNvPr>
          <p:cNvPicPr>
            <a:picLocks noChangeAspect="1"/>
          </p:cNvPicPr>
          <p:nvPr/>
        </p:nvPicPr>
        <p:blipFill>
          <a:blip r:embed="rId5"/>
          <a:srcRect l="0" r="0" t="0" b="0"/>
          <a:stretch/>
        </p:blipFill>
        <p:spPr>
          <a:xfrm>
            <a:off x="16024408" y="520957"/>
            <a:ext cx="1438343" cy="390776"/>
          </a:xfrm>
          <a:prstGeom prst="rect">
            <a:avLst/>
          </a:prstGeom>
        </p:spPr>
      </p:pic>
      <p:sp>
        <p:nvSpPr>
          <p:cNvPr id="14" name="name_01"/>
          <p:cNvSpPr/>
          <p:nvPr/>
        </p:nvSpPr>
        <p:spPr>
          <a:xfrm>
            <a:off x="752475" y="2466975"/>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01</a:t>
            </a:r>
            <a:endParaRPr lang="en-US" sz="2175" dirty="0"/>
          </a:p>
        </p:txBody>
      </p:sp>
      <p:sp>
        <p:nvSpPr>
          <p:cNvPr id="15" name="name_03"/>
          <p:cNvSpPr/>
          <p:nvPr/>
        </p:nvSpPr>
        <p:spPr>
          <a:xfrm>
            <a:off x="752475" y="4572000"/>
            <a:ext cx="6286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03</a:t>
            </a:r>
            <a:endParaRPr lang="en-US" sz="2175" dirty="0"/>
          </a:p>
        </p:txBody>
      </p:sp>
      <p:sp>
        <p:nvSpPr>
          <p:cNvPr id="16" name="name_04"/>
          <p:cNvSpPr/>
          <p:nvPr/>
        </p:nvSpPr>
        <p:spPr>
          <a:xfrm>
            <a:off x="723900" y="5591175"/>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04</a:t>
            </a:r>
            <a:endParaRPr lang="en-US" sz="2175" dirty="0"/>
          </a:p>
        </p:txBody>
      </p:sp>
      <p:sp>
        <p:nvSpPr>
          <p:cNvPr id="17" name="name_05"/>
          <p:cNvSpPr/>
          <p:nvPr/>
        </p:nvSpPr>
        <p:spPr>
          <a:xfrm>
            <a:off x="723900" y="6638925"/>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05</a:t>
            </a:r>
            <a:endParaRPr lang="en-US" sz="2175" dirty="0"/>
          </a:p>
        </p:txBody>
      </p:sp>
      <p:sp>
        <p:nvSpPr>
          <p:cNvPr id="18" name="name_06"/>
          <p:cNvSpPr/>
          <p:nvPr/>
        </p:nvSpPr>
        <p:spPr>
          <a:xfrm>
            <a:off x="752475" y="7648575"/>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06</a:t>
            </a:r>
            <a:endParaRPr lang="en-US" sz="2175" dirty="0"/>
          </a:p>
        </p:txBody>
      </p:sp>
      <p:sp>
        <p:nvSpPr>
          <p:cNvPr id="19" name="name_07"/>
          <p:cNvSpPr/>
          <p:nvPr/>
        </p:nvSpPr>
        <p:spPr>
          <a:xfrm>
            <a:off x="723900" y="8477250"/>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07</a:t>
            </a:r>
            <a:endParaRPr lang="en-US" sz="2175" dirty="0"/>
          </a:p>
        </p:txBody>
      </p:sp>
      <p:sp>
        <p:nvSpPr>
          <p:cNvPr id="20" name="name_02"/>
          <p:cNvSpPr/>
          <p:nvPr/>
        </p:nvSpPr>
        <p:spPr>
          <a:xfrm>
            <a:off x="752475" y="3581400"/>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02</a:t>
            </a:r>
            <a:endParaRPr lang="en-US" sz="2175" dirty="0"/>
          </a:p>
        </p:txBody>
      </p:sp>
      <p:sp>
        <p:nvSpPr>
          <p:cNvPr id="21" name="CFTC rules on impartial access transparency and anonymous cleared execution support the model"/>
          <p:cNvSpPr/>
          <p:nvPr/>
        </p:nvSpPr>
        <p:spPr>
          <a:xfrm>
            <a:off x="1190625" y="2914650"/>
            <a:ext cx="5648325" cy="514350"/>
          </a:xfrm>
          <a:prstGeom prst="rect">
            <a:avLst/>
          </a:prstGeom>
          <a:noFill/>
          <a:ln/>
        </p:spPr>
        <p:txBody>
          <a:bodyPr wrap="square" lIns="0" tIns="0" rIns="0" bIns="0" rtlCol="0" anchor="t"/>
          <a:lstStyle/>
          <a:p>
            <a:pPr algn="l" indent="0" marL="0">
              <a:lnSpc>
                <a:spcPts val="1950"/>
              </a:lnSpc>
              <a:buNone/>
            </a:pPr>
            <a:r>
              <a:rPr lang="en-US" sz="1650" dirty="0">
                <a:solidFill>
                  <a:srgbClr val="000000"/>
                </a:solidFill>
                <a:latin typeface="Inter Regular" pitchFamily="34" charset="0"/>
                <a:ea typeface="Inter Regular" pitchFamily="34" charset="-122"/>
                <a:cs typeface="Inter Regular" pitchFamily="34" charset="-120"/>
              </a:rPr>
              <a:t>CFTC rules on impartial access, transparency and anonymous cleared execution support the model.</a:t>
            </a:r>
            <a:endParaRPr lang="en-US" sz="1650" dirty="0"/>
          </a:p>
        </p:txBody>
      </p:sp>
      <p:sp>
        <p:nvSpPr>
          <p:cNvPr id="22" name="Clearing reporting and SEF infrastructure are already in place"/>
          <p:cNvSpPr/>
          <p:nvPr/>
        </p:nvSpPr>
        <p:spPr>
          <a:xfrm>
            <a:off x="1190625" y="4972050"/>
            <a:ext cx="5000625" cy="514350"/>
          </a:xfrm>
          <a:prstGeom prst="rect">
            <a:avLst/>
          </a:prstGeom>
          <a:noFill/>
          <a:ln/>
        </p:spPr>
        <p:txBody>
          <a:bodyPr wrap="square" lIns="0" tIns="0" rIns="0" bIns="0" rtlCol="0" anchor="t"/>
          <a:lstStyle/>
          <a:p>
            <a:pPr algn="l" indent="0" marL="0">
              <a:lnSpc>
                <a:spcPts val="1950"/>
              </a:lnSpc>
              <a:buNone/>
            </a:pPr>
            <a:r>
              <a:rPr lang="en-US" sz="1650" dirty="0">
                <a:solidFill>
                  <a:srgbClr val="000000"/>
                </a:solidFill>
                <a:latin typeface="Inter Regular" pitchFamily="34" charset="0"/>
                <a:ea typeface="Inter Regular" pitchFamily="34" charset="-122"/>
                <a:cs typeface="Inter Regular" pitchFamily="34" charset="-120"/>
              </a:rPr>
              <a:t>Clearing, reporting and SEF infrastructure are already in place. </a:t>
            </a:r>
            <a:endParaRPr lang="en-US" sz="1650" dirty="0"/>
          </a:p>
        </p:txBody>
      </p:sp>
      <p:sp>
        <p:nvSpPr>
          <p:cNvPr id="23" name="OMeTs model travels the same rules and protocol can serve cleared markets worldwide"/>
          <p:cNvSpPr/>
          <p:nvPr/>
        </p:nvSpPr>
        <p:spPr>
          <a:xfrm>
            <a:off x="1190625" y="6010275"/>
            <a:ext cx="6019800" cy="514350"/>
          </a:xfrm>
          <a:prstGeom prst="rect">
            <a:avLst/>
          </a:prstGeom>
          <a:noFill/>
          <a:ln/>
        </p:spPr>
        <p:txBody>
          <a:bodyPr wrap="square" lIns="0" tIns="0" rIns="0" bIns="0" rtlCol="0" anchor="t"/>
          <a:lstStyle/>
          <a:p>
            <a:pPr algn="l" indent="0" marL="0">
              <a:lnSpc>
                <a:spcPts val="1950"/>
              </a:lnSpc>
              <a:buNone/>
            </a:pPr>
            <a:r>
              <a:rPr lang="en-US" sz="1650" dirty="0">
                <a:solidFill>
                  <a:srgbClr val="000000"/>
                </a:solidFill>
                <a:latin typeface="Inter Regular" pitchFamily="34" charset="0"/>
                <a:ea typeface="Inter Regular" pitchFamily="34" charset="-122"/>
                <a:cs typeface="Inter Regular" pitchFamily="34" charset="-120"/>
              </a:rPr>
              <a:t>OMeT's model travels: the same rules and protocol can serve cleared markets worldwide.</a:t>
            </a:r>
            <a:endParaRPr lang="en-US" sz="1650" dirty="0"/>
          </a:p>
        </p:txBody>
      </p:sp>
      <p:sp>
        <p:nvSpPr>
          <p:cNvPr id="24" name="OMeT is collaborating with the worlds largest clearinghouses CME and LCH along with OSTTRA the premier pre and post trade services provider for institutional trading"/>
          <p:cNvSpPr/>
          <p:nvPr/>
        </p:nvSpPr>
        <p:spPr>
          <a:xfrm>
            <a:off x="1190625" y="7019925"/>
            <a:ext cx="8743950" cy="514350"/>
          </a:xfrm>
          <a:prstGeom prst="rect">
            <a:avLst/>
          </a:prstGeom>
          <a:noFill/>
          <a:ln/>
        </p:spPr>
        <p:txBody>
          <a:bodyPr wrap="square" lIns="0" tIns="0" rIns="0" bIns="0" rtlCol="0" anchor="t"/>
          <a:lstStyle/>
          <a:p>
            <a:pPr algn="l" indent="0" marL="0">
              <a:lnSpc>
                <a:spcPts val="1950"/>
              </a:lnSpc>
              <a:buNone/>
            </a:pPr>
            <a:r>
              <a:rPr lang="en-US" sz="1650" dirty="0">
                <a:solidFill>
                  <a:srgbClr val="000000"/>
                </a:solidFill>
                <a:latin typeface="Inter Regular" pitchFamily="34" charset="0"/>
                <a:ea typeface="Inter Regular" pitchFamily="34" charset="-122"/>
                <a:cs typeface="Inter Regular" pitchFamily="34" charset="-120"/>
              </a:rPr>
              <a:t>OMeT is collaborating with the world's largest clearinghouses, CME and LCH, along with OSTTRA, the premier pre and post trade services provider for institutional trading.</a:t>
            </a:r>
            <a:endParaRPr lang="en-US" sz="1650" dirty="0"/>
          </a:p>
        </p:txBody>
      </p:sp>
      <p:sp>
        <p:nvSpPr>
          <p:cNvPr id="25" name="name_30 of the largest institutional participants are currently in the process of onboarding"/>
          <p:cNvSpPr/>
          <p:nvPr/>
        </p:nvSpPr>
        <p:spPr>
          <a:xfrm>
            <a:off x="1190625" y="8086725"/>
            <a:ext cx="8743950" cy="257175"/>
          </a:xfrm>
          <a:prstGeom prst="rect">
            <a:avLst/>
          </a:prstGeom>
          <a:noFill/>
          <a:ln/>
        </p:spPr>
        <p:txBody>
          <a:bodyPr wrap="square" lIns="0" tIns="0" rIns="0" bIns="0" rtlCol="0" anchor="t"/>
          <a:lstStyle/>
          <a:p>
            <a:pPr algn="l" indent="0" marL="0">
              <a:lnSpc>
                <a:spcPts val="1950"/>
              </a:lnSpc>
              <a:buNone/>
            </a:pPr>
            <a:r>
              <a:rPr lang="en-US" sz="1650" dirty="0">
                <a:solidFill>
                  <a:srgbClr val="000000"/>
                </a:solidFill>
                <a:latin typeface="Inter Regular" pitchFamily="34" charset="0"/>
                <a:ea typeface="Inter Regular" pitchFamily="34" charset="-122"/>
                <a:cs typeface="Inter Regular" pitchFamily="34" charset="-120"/>
              </a:rPr>
              <a:t>30+ of the largest institutional participants are currently in the process of onboarding.</a:t>
            </a:r>
            <a:endParaRPr lang="en-US" sz="1650" dirty="0"/>
          </a:p>
        </p:txBody>
      </p:sp>
      <p:sp>
        <p:nvSpPr>
          <p:cNvPr id="26" name="eMODs three-phase protocol is patent-pending"/>
          <p:cNvSpPr/>
          <p:nvPr/>
        </p:nvSpPr>
        <p:spPr>
          <a:xfrm>
            <a:off x="1162050" y="8915400"/>
            <a:ext cx="8286750" cy="257175"/>
          </a:xfrm>
          <a:prstGeom prst="rect">
            <a:avLst/>
          </a:prstGeom>
          <a:noFill/>
          <a:ln/>
        </p:spPr>
        <p:txBody>
          <a:bodyPr wrap="square" lIns="0" tIns="0" rIns="0" bIns="0" rtlCol="0" anchor="t"/>
          <a:lstStyle/>
          <a:p>
            <a:pPr algn="l" indent="0" marL="0">
              <a:lnSpc>
                <a:spcPts val="1950"/>
              </a:lnSpc>
              <a:buNone/>
            </a:pPr>
            <a:r>
              <a:rPr lang="en-US" sz="1650" dirty="0">
                <a:solidFill>
                  <a:srgbClr val="000000"/>
                </a:solidFill>
                <a:latin typeface="Inter Regular" pitchFamily="34" charset="0"/>
                <a:ea typeface="Inter Regular" pitchFamily="34" charset="-122"/>
                <a:cs typeface="Inter Regular" pitchFamily="34" charset="-120"/>
              </a:rPr>
              <a:t>eMOD’s three-phase protocol is patent-pending. </a:t>
            </a:r>
            <a:endParaRPr lang="en-US" sz="1650" dirty="0"/>
          </a:p>
        </p:txBody>
      </p:sp>
      <p:sp>
        <p:nvSpPr>
          <p:cNvPr id="27" name="Platform built and ready to launch upon CFTC approval anticipated in November 2026"/>
          <p:cNvSpPr/>
          <p:nvPr/>
        </p:nvSpPr>
        <p:spPr>
          <a:xfrm>
            <a:off x="1190625" y="3990975"/>
            <a:ext cx="5648325" cy="514350"/>
          </a:xfrm>
          <a:prstGeom prst="rect">
            <a:avLst/>
          </a:prstGeom>
          <a:noFill/>
          <a:ln/>
        </p:spPr>
        <p:txBody>
          <a:bodyPr wrap="square" lIns="0" tIns="0" rIns="0" bIns="0" rtlCol="0" anchor="t"/>
          <a:lstStyle/>
          <a:p>
            <a:pPr algn="l" indent="0" marL="0">
              <a:lnSpc>
                <a:spcPts val="1950"/>
              </a:lnSpc>
              <a:buNone/>
            </a:pPr>
            <a:r>
              <a:rPr lang="en-US" sz="1650" dirty="0">
                <a:solidFill>
                  <a:srgbClr val="000000"/>
                </a:solidFill>
                <a:latin typeface="Inter Regular" pitchFamily="34" charset="0"/>
                <a:ea typeface="Inter Regular" pitchFamily="34" charset="-122"/>
                <a:cs typeface="Inter Regular" pitchFamily="34" charset="-120"/>
              </a:rPr>
              <a:t>Platform built and ready to launch upon CFTC approval, anticipated in November 2026.</a:t>
            </a:r>
            <a:endParaRPr lang="en-US" sz="1650" dirty="0"/>
          </a:p>
        </p:txBody>
      </p:sp>
      <p:sp>
        <p:nvSpPr>
          <p:cNvPr id="28" name="Regulation in our favor"/>
          <p:cNvSpPr/>
          <p:nvPr/>
        </p:nvSpPr>
        <p:spPr>
          <a:xfrm>
            <a:off x="1257300" y="2457450"/>
            <a:ext cx="3638550" cy="371475"/>
          </a:xfrm>
          <a:prstGeom prst="rect">
            <a:avLst/>
          </a:prstGeom>
          <a:noFill/>
          <a:ln/>
        </p:spPr>
        <p:txBody>
          <a:bodyPr wrap="square" lIns="0" tIns="0" rIns="0" bIns="0" rtlCol="0" anchor="t"/>
          <a:lstStyle/>
          <a:p>
            <a:pPr algn="l" indent="0" marL="0">
              <a:lnSpc>
                <a:spcPts val="2850"/>
              </a:lnSpc>
              <a:buNone/>
            </a:pPr>
            <a:r>
              <a:rPr lang="en-US" sz="2400" b="1" dirty="0">
                <a:solidFill>
                  <a:srgbClr val="12ADA7"/>
                </a:solidFill>
                <a:latin typeface="Inter Bold" pitchFamily="34" charset="0"/>
                <a:ea typeface="Inter Bold" pitchFamily="34" charset="-122"/>
                <a:cs typeface="Inter Bold" pitchFamily="34" charset="-120"/>
              </a:rPr>
              <a:t>Regulation in our favor</a:t>
            </a:r>
            <a:endParaRPr lang="en-US" sz="2400" dirty="0"/>
          </a:p>
        </p:txBody>
      </p:sp>
      <p:sp>
        <p:nvSpPr>
          <p:cNvPr id="29" name="Market ready"/>
          <p:cNvSpPr/>
          <p:nvPr/>
        </p:nvSpPr>
        <p:spPr>
          <a:xfrm>
            <a:off x="1190625" y="4572000"/>
            <a:ext cx="3638550" cy="371475"/>
          </a:xfrm>
          <a:prstGeom prst="rect">
            <a:avLst/>
          </a:prstGeom>
          <a:noFill/>
          <a:ln/>
        </p:spPr>
        <p:txBody>
          <a:bodyPr wrap="square" lIns="0" tIns="0" rIns="0" bIns="0" rtlCol="0" anchor="t"/>
          <a:lstStyle/>
          <a:p>
            <a:pPr algn="l" indent="0" marL="0">
              <a:lnSpc>
                <a:spcPts val="2850"/>
              </a:lnSpc>
              <a:buNone/>
            </a:pPr>
            <a:r>
              <a:rPr lang="en-US" sz="2400" b="1" dirty="0">
                <a:solidFill>
                  <a:srgbClr val="12ADA7"/>
                </a:solidFill>
                <a:latin typeface="Inter Bold" pitchFamily="34" charset="0"/>
                <a:ea typeface="Inter Bold" pitchFamily="34" charset="-122"/>
                <a:cs typeface="Inter Bold" pitchFamily="34" charset="-120"/>
              </a:rPr>
              <a:t>Market ready</a:t>
            </a:r>
            <a:endParaRPr lang="en-US" sz="2400" dirty="0"/>
          </a:p>
        </p:txBody>
      </p:sp>
      <p:sp>
        <p:nvSpPr>
          <p:cNvPr id="30" name="Scalable strategy"/>
          <p:cNvSpPr/>
          <p:nvPr/>
        </p:nvSpPr>
        <p:spPr>
          <a:xfrm>
            <a:off x="1190625" y="5591175"/>
            <a:ext cx="3638550" cy="371475"/>
          </a:xfrm>
          <a:prstGeom prst="rect">
            <a:avLst/>
          </a:prstGeom>
          <a:noFill/>
          <a:ln/>
        </p:spPr>
        <p:txBody>
          <a:bodyPr wrap="square" lIns="0" tIns="0" rIns="0" bIns="0" rtlCol="0" anchor="t"/>
          <a:lstStyle/>
          <a:p>
            <a:pPr algn="l" indent="0" marL="0">
              <a:lnSpc>
                <a:spcPts val="2850"/>
              </a:lnSpc>
              <a:buNone/>
            </a:pPr>
            <a:r>
              <a:rPr lang="en-US" sz="2400" b="1" dirty="0">
                <a:solidFill>
                  <a:srgbClr val="12ADA7"/>
                </a:solidFill>
                <a:latin typeface="Inter Bold" pitchFamily="34" charset="0"/>
                <a:ea typeface="Inter Bold" pitchFamily="34" charset="-122"/>
                <a:cs typeface="Inter Bold" pitchFamily="34" charset="-120"/>
              </a:rPr>
              <a:t>Scalable strategy</a:t>
            </a:r>
            <a:endParaRPr lang="en-US" sz="2400" dirty="0"/>
          </a:p>
        </p:txBody>
      </p:sp>
      <p:sp>
        <p:nvSpPr>
          <p:cNvPr id="31" name="Partnerships to execute"/>
          <p:cNvSpPr/>
          <p:nvPr/>
        </p:nvSpPr>
        <p:spPr>
          <a:xfrm>
            <a:off x="1190625" y="6629400"/>
            <a:ext cx="3695700" cy="371475"/>
          </a:xfrm>
          <a:prstGeom prst="rect">
            <a:avLst/>
          </a:prstGeom>
          <a:noFill/>
          <a:ln/>
        </p:spPr>
        <p:txBody>
          <a:bodyPr wrap="square" lIns="0" tIns="0" rIns="0" bIns="0" rtlCol="0" anchor="t"/>
          <a:lstStyle/>
          <a:p>
            <a:pPr algn="l" indent="0" marL="0">
              <a:lnSpc>
                <a:spcPts val="2850"/>
              </a:lnSpc>
              <a:buNone/>
            </a:pPr>
            <a:r>
              <a:rPr lang="en-US" sz="2400" b="1" dirty="0">
                <a:solidFill>
                  <a:srgbClr val="12ADA7"/>
                </a:solidFill>
                <a:latin typeface="Inter Bold" pitchFamily="34" charset="0"/>
                <a:ea typeface="Inter Bold" pitchFamily="34" charset="-122"/>
                <a:cs typeface="Inter Bold" pitchFamily="34" charset="-120"/>
              </a:rPr>
              <a:t>Partnerships to execute</a:t>
            </a:r>
            <a:endParaRPr lang="en-US" sz="2400" dirty="0"/>
          </a:p>
        </p:txBody>
      </p:sp>
      <p:sp>
        <p:nvSpPr>
          <p:cNvPr id="32" name="Client support"/>
          <p:cNvSpPr/>
          <p:nvPr/>
        </p:nvSpPr>
        <p:spPr>
          <a:xfrm>
            <a:off x="1190625" y="7648575"/>
            <a:ext cx="3638550" cy="371475"/>
          </a:xfrm>
          <a:prstGeom prst="rect">
            <a:avLst/>
          </a:prstGeom>
          <a:noFill/>
          <a:ln/>
        </p:spPr>
        <p:txBody>
          <a:bodyPr wrap="square" lIns="0" tIns="0" rIns="0" bIns="0" rtlCol="0" anchor="t"/>
          <a:lstStyle/>
          <a:p>
            <a:pPr algn="l" indent="0" marL="0">
              <a:lnSpc>
                <a:spcPts val="2850"/>
              </a:lnSpc>
              <a:buNone/>
            </a:pPr>
            <a:r>
              <a:rPr lang="en-US" sz="2400" b="1" dirty="0">
                <a:solidFill>
                  <a:srgbClr val="12ADA7"/>
                </a:solidFill>
                <a:latin typeface="Inter Bold" pitchFamily="34" charset="0"/>
                <a:ea typeface="Inter Bold" pitchFamily="34" charset="-122"/>
                <a:cs typeface="Inter Bold" pitchFamily="34" charset="-120"/>
              </a:rPr>
              <a:t>Client support</a:t>
            </a:r>
            <a:endParaRPr lang="en-US" sz="2400" dirty="0"/>
          </a:p>
        </p:txBody>
      </p:sp>
      <p:sp>
        <p:nvSpPr>
          <p:cNvPr id="33" name="A Protected Protocol"/>
          <p:cNvSpPr/>
          <p:nvPr/>
        </p:nvSpPr>
        <p:spPr>
          <a:xfrm>
            <a:off x="1162050" y="8477250"/>
            <a:ext cx="3638550" cy="371475"/>
          </a:xfrm>
          <a:prstGeom prst="rect">
            <a:avLst/>
          </a:prstGeom>
          <a:noFill/>
          <a:ln/>
        </p:spPr>
        <p:txBody>
          <a:bodyPr wrap="square" lIns="0" tIns="0" rIns="0" bIns="0" rtlCol="0" anchor="t"/>
          <a:lstStyle/>
          <a:p>
            <a:pPr algn="l" indent="0" marL="0">
              <a:lnSpc>
                <a:spcPts val="2850"/>
              </a:lnSpc>
              <a:buNone/>
            </a:pPr>
            <a:r>
              <a:rPr lang="en-US" sz="2400" b="1" dirty="0">
                <a:solidFill>
                  <a:srgbClr val="12ADA7"/>
                </a:solidFill>
                <a:latin typeface="Inter Bold" pitchFamily="34" charset="0"/>
                <a:ea typeface="Inter Bold" pitchFamily="34" charset="-122"/>
                <a:cs typeface="Inter Bold" pitchFamily="34" charset="-120"/>
              </a:rPr>
              <a:t>A Protected Protocol</a:t>
            </a:r>
            <a:endParaRPr lang="en-US" sz="2400" dirty="0"/>
          </a:p>
        </p:txBody>
      </p:sp>
      <p:sp>
        <p:nvSpPr>
          <p:cNvPr id="34" name="The technology exists"/>
          <p:cNvSpPr/>
          <p:nvPr/>
        </p:nvSpPr>
        <p:spPr>
          <a:xfrm>
            <a:off x="1190625" y="3581400"/>
            <a:ext cx="3638550" cy="371475"/>
          </a:xfrm>
          <a:prstGeom prst="rect">
            <a:avLst/>
          </a:prstGeom>
          <a:noFill/>
          <a:ln/>
        </p:spPr>
        <p:txBody>
          <a:bodyPr wrap="square" lIns="0" tIns="0" rIns="0" bIns="0" rtlCol="0" anchor="t"/>
          <a:lstStyle/>
          <a:p>
            <a:pPr algn="l" indent="0" marL="0">
              <a:lnSpc>
                <a:spcPts val="2850"/>
              </a:lnSpc>
              <a:buNone/>
            </a:pPr>
            <a:r>
              <a:rPr lang="en-US" sz="2400" b="1" dirty="0">
                <a:solidFill>
                  <a:srgbClr val="12ADA7"/>
                </a:solidFill>
                <a:latin typeface="Inter Bold" pitchFamily="34" charset="0"/>
                <a:ea typeface="Inter Bold" pitchFamily="34" charset="-122"/>
                <a:cs typeface="Inter Bold" pitchFamily="34" charset="-120"/>
              </a:rPr>
              <a:t>The technology exists</a:t>
            </a:r>
            <a:endParaRPr lang="en-US" sz="2400" dirty="0"/>
          </a:p>
        </p:txBody>
      </p:sp>
      <p:sp>
        <p:nvSpPr>
          <p:cNvPr id="35" name="Text 2"/>
          <p:cNvSpPr/>
          <p:nvPr/>
        </p:nvSpPr>
        <p:spPr>
          <a:xfrm>
            <a:off x="752475" y="1438275"/>
            <a:ext cx="17297400" cy="771525"/>
          </a:xfrm>
          <a:prstGeom prst="rect">
            <a:avLst/>
          </a:prstGeom>
          <a:noFill/>
          <a:ln/>
        </p:spPr>
        <p:txBody>
          <a:bodyPr wrap="square" lIns="0" tIns="0" rIns="0" bIns="0" rtlCol="0" anchor="t"/>
          <a:lstStyle/>
          <a:p>
            <a:pPr algn="l" indent="0" marL="0">
              <a:lnSpc>
                <a:spcPts val="3038"/>
              </a:lnSpc>
              <a:buNone/>
            </a:pPr>
            <a:r>
              <a:rPr lang="en-US" sz="2250" dirty="0">
                <a:solidFill>
                  <a:srgbClr val="384F46"/>
                </a:solidFill>
                <a:latin typeface="Inter Medium" pitchFamily="34" charset="0"/>
                <a:ea typeface="Inter Medium" pitchFamily="34" charset="-122"/>
                <a:cs typeface="Inter Medium" pitchFamily="34" charset="-120"/>
              </a:rPr>
              <a:t>Participants are now demanding an open neutral access to liquidity. </a:t>
            </a:r>
            <a:pPr algn="l" indent="0" marL="0">
              <a:lnSpc>
                <a:spcPts val="3038"/>
              </a:lnSpc>
              <a:buNone/>
            </a:pPr>
            <a:endParaRPr lang="en-US" sz="2250" dirty="0"/>
          </a:p>
          <a:p>
            <a:pPr algn="l" indent="0" marL="0">
              <a:lnSpc>
                <a:spcPts val="3038"/>
              </a:lnSpc>
              <a:buNone/>
            </a:pPr>
            <a:r>
              <a:rPr lang="en-US" sz="2250" b="1" dirty="0">
                <a:solidFill>
                  <a:srgbClr val="384F46"/>
                </a:solidFill>
                <a:latin typeface="Inter Bold" pitchFamily="34" charset="0"/>
                <a:ea typeface="Inter Bold" pitchFamily="34" charset="-122"/>
                <a:cs typeface="Inter Bold" pitchFamily="34" charset="-120"/>
              </a:rPr>
              <a:t>The conditions to deliver are in place for a target launch in January 2027.</a:t>
            </a:r>
            <a:endParaRPr lang="en-US" sz="2250" dirty="0"/>
          </a:p>
        </p:txBody>
      </p:sp>
      <p:sp>
        <p:nvSpPr>
          <p:cNvPr id="36" name="Text 4"/>
          <p:cNvSpPr/>
          <p:nvPr/>
        </p:nvSpPr>
        <p:spPr>
          <a:xfrm>
            <a:off x="723900" y="752475"/>
            <a:ext cx="10420350" cy="514350"/>
          </a:xfrm>
          <a:prstGeom prst="rect">
            <a:avLst/>
          </a:prstGeom>
          <a:noFill/>
          <a:ln/>
        </p:spPr>
        <p:txBody>
          <a:bodyPr wrap="square" lIns="0" tIns="0" rIns="0" bIns="0" rtlCol="0" anchor="t"/>
          <a:lstStyle/>
          <a:p>
            <a:pPr algn="l" indent="0" marL="0">
              <a:lnSpc>
                <a:spcPts val="4050"/>
              </a:lnSpc>
              <a:buNone/>
            </a:pPr>
            <a:r>
              <a:rPr lang="en-US" sz="5850" b="1" dirty="0">
                <a:solidFill>
                  <a:srgbClr val="2D8680"/>
                </a:solidFill>
                <a:latin typeface="Open Sans Bold" pitchFamily="34" charset="0"/>
                <a:ea typeface="Open Sans Bold" pitchFamily="34" charset="-122"/>
                <a:cs typeface="Open Sans Bold" pitchFamily="34" charset="-120"/>
              </a:rPr>
              <a:t>OMeT</a:t>
            </a:r>
            <a:pPr algn="l" indent="0" marL="0">
              <a:lnSpc>
                <a:spcPts val="4050"/>
              </a:lnSpc>
              <a:buNone/>
            </a:pPr>
            <a:r>
              <a:rPr lang="en-US" sz="5850" b="1" dirty="0">
                <a:solidFill>
                  <a:srgbClr val="384F46"/>
                </a:solidFill>
                <a:latin typeface="Open Sans Bold" pitchFamily="34" charset="0"/>
                <a:ea typeface="Open Sans Bold" pitchFamily="34" charset="-122"/>
                <a:cs typeface="Open Sans Bold" pitchFamily="34" charset="-120"/>
              </a:rPr>
              <a:t> </a:t>
            </a:r>
            <a:pPr algn="l" indent="0" marL="0">
              <a:lnSpc>
                <a:spcPts val="4050"/>
              </a:lnSpc>
              <a:buNone/>
            </a:pPr>
            <a:r>
              <a:rPr lang="en-US" sz="5850" dirty="0">
                <a:solidFill>
                  <a:srgbClr val="384F46"/>
                </a:solidFill>
                <a:latin typeface="Open Sans Regular" pitchFamily="34" charset="0"/>
                <a:ea typeface="Open Sans Regular" pitchFamily="34" charset="-122"/>
                <a:cs typeface="Open Sans Regular" pitchFamily="34" charset="-120"/>
              </a:rPr>
              <a:t>is the solution</a:t>
            </a:r>
            <a:endParaRPr lang="en-US" sz="5850" dirty="0"/>
          </a:p>
        </p:txBody>
      </p:sp>
      <p:sp>
        <p:nvSpPr>
          <p:cNvPr id="37" name="SEPTEMBER 2026"/>
          <p:cNvSpPr/>
          <p:nvPr/>
        </p:nvSpPr>
        <p:spPr>
          <a:xfrm>
            <a:off x="15678150" y="964882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54BABE"/>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38" name="Text 8"/>
          <p:cNvSpPr/>
          <p:nvPr/>
        </p:nvSpPr>
        <p:spPr>
          <a:xfrm>
            <a:off x="752475" y="962977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2E8B7A"/>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5"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OMet-002 1" descr="preencoded.png">    </p:cNvPr>
          <p:cNvPicPr>
            <a:picLocks noChangeAspect="1"/>
          </p:cNvPicPr>
          <p:nvPr/>
        </p:nvPicPr>
        <p:blipFill>
          <a:blip r:embed="rId2"/>
          <a:srcRect l="0" r="0" t="0" b="0"/>
          <a:stretch/>
        </p:blipFill>
        <p:spPr>
          <a:xfrm>
            <a:off x="1104900" y="2294477"/>
            <a:ext cx="7068489" cy="6449473"/>
          </a:xfrm>
          <a:prstGeom prst="rect">
            <a:avLst/>
          </a:prstGeom>
        </p:spPr>
      </p:pic>
      <p:pic>
        <p:nvPicPr>
          <p:cNvPr id="4" name="Group 1010105222"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7772400" y="1752544"/>
            <a:ext cx="323907" cy="323907"/>
          </a:xfrm>
          <a:prstGeom prst="rect">
            <a:avLst/>
          </a:prstGeom>
        </p:spPr>
      </p:pic>
      <p:pic>
        <p:nvPicPr>
          <p:cNvPr id="5" name="Group 1010105228"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7772400" y="2838394"/>
            <a:ext cx="323907" cy="323907"/>
          </a:xfrm>
          <a:prstGeom prst="rect">
            <a:avLst/>
          </a:prstGeom>
        </p:spPr>
      </p:pic>
      <p:pic>
        <p:nvPicPr>
          <p:cNvPr id="6" name="Group 1010105230" descr="preencoded.png">    </p:cNvPr>
          <p:cNvPicPr>
            <a:picLocks noChangeAspect="1"/>
          </p:cNvPicPr>
          <p:nvPr/>
        </p:nvPicPr>
        <p:blipFill>
          <a:blip r:embed="rId7"/>
          <a:srcRect l="0" r="0" t="0" b="0"/>
          <a:stretch/>
        </p:blipFill>
        <p:spPr>
          <a:xfrm>
            <a:off x="7772400" y="5162473"/>
            <a:ext cx="438226" cy="449395"/>
          </a:xfrm>
          <a:prstGeom prst="rect">
            <a:avLst/>
          </a:prstGeom>
        </p:spPr>
      </p:pic>
      <p:pic>
        <p:nvPicPr>
          <p:cNvPr id="7" name="Group 1010105231" descr="preencoded.png">    </p:cNvPr>
          <p:cNvPicPr>
            <a:picLocks noChangeAspect="1"/>
          </p:cNvPicPr>
          <p:nvPr/>
        </p:nvPicPr>
        <p:blipFill>
          <a:blip r:embed="rId8"/>
          <a:srcRect l="0" r="0" t="0" b="0"/>
          <a:stretch/>
        </p:blipFill>
        <p:spPr>
          <a:xfrm>
            <a:off x="7772400" y="6105448"/>
            <a:ext cx="438226" cy="449394"/>
          </a:xfrm>
          <a:prstGeom prst="rect">
            <a:avLst/>
          </a:prstGeom>
        </p:spPr>
      </p:pic>
      <p:pic>
        <p:nvPicPr>
          <p:cNvPr id="8" name="Group 1010105224" descr="preencoded.png">    </p:cNvPr>
          <p:cNvPicPr>
            <a:picLocks noChangeAspect="1"/>
          </p:cNvPicPr>
          <p:nvPr/>
        </p:nvPicPr>
        <p:blipFill>
          <a:blip r:embed="rId9"/>
          <a:srcRect l="0" r="0" t="0" b="0"/>
          <a:stretch/>
        </p:blipFill>
        <p:spPr>
          <a:xfrm>
            <a:off x="7362825" y="7362769"/>
            <a:ext cx="323907" cy="361978"/>
          </a:xfrm>
          <a:prstGeom prst="rect">
            <a:avLst/>
          </a:prstGeom>
        </p:spPr>
      </p:pic>
      <p:pic>
        <p:nvPicPr>
          <p:cNvPr id="9" name="Group 1010105223" descr="preencoded.png">    </p:cNvPr>
          <p:cNvPicPr>
            <a:picLocks noChangeAspect="1"/>
          </p:cNvPicPr>
          <p:nvPr/>
        </p:nvPicPr>
        <p:blipFill>
          <a:blip r:embed="rId10"/>
          <a:srcRect l="0" r="0" t="0" b="0"/>
          <a:stretch/>
        </p:blipFill>
        <p:spPr>
          <a:xfrm>
            <a:off x="4077109" y="3590778"/>
            <a:ext cx="3200855" cy="4971677"/>
          </a:xfrm>
          <a:prstGeom prst="rect">
            <a:avLst/>
          </a:prstGeom>
        </p:spPr>
      </p:pic>
      <p:pic>
        <p:nvPicPr>
          <p:cNvPr id="10" name="Line 2"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4830496" y="1981545"/>
            <a:ext cx="3142212" cy="1639743"/>
          </a:xfrm>
          <a:prstGeom prst="rect">
            <a:avLst/>
          </a:prstGeom>
        </p:spPr>
      </p:pic>
      <p:pic>
        <p:nvPicPr>
          <p:cNvPr id="11" name="Line 6" descr="preencoded.png">    </p:cNvPr>
          <p:cNvPicPr>
            <a:picLocks noChangeAspect="1"/>
          </p:cNvPicPr>
          <p:nvPr/>
        </p:nvPicPr>
        <p:blipFill>
          <a:blip r:embed="rId13">
            <a:extLst>
              <a:ext uri="{96DAC541-7B7A-43D3-8B79-37D633B846F1}">
                <asvg:svgBlip xmlns:asvg="http://schemas.microsoft.com/office/drawing/2016/SVG/main" r:embed="rId14"/>
              </a:ext>
            </a:extLst>
          </a:blip>
          <a:srcRect l="0" r="0" t="0" b="0"/>
          <a:stretch/>
        </p:blipFill>
        <p:spPr>
          <a:xfrm>
            <a:off x="6603513" y="4003176"/>
            <a:ext cx="1178449" cy="592410"/>
          </a:xfrm>
          <a:prstGeom prst="rect">
            <a:avLst/>
          </a:prstGeom>
        </p:spPr>
      </p:pic>
      <p:pic>
        <p:nvPicPr>
          <p:cNvPr id="12" name="Line 7" descr="preencoded.png">    </p:cNvPr>
          <p:cNvPicPr>
            <a:picLocks noChangeAspect="1"/>
          </p:cNvPicPr>
          <p:nvPr/>
        </p:nvPicPr>
        <p:blipFill>
          <a:blip r:embed="rId15">
            <a:extLst>
              <a:ext uri="{96DAC541-7B7A-43D3-8B79-37D633B846F1}">
                <asvg:svgBlip xmlns:asvg="http://schemas.microsoft.com/office/drawing/2016/SVG/main" r:embed="rId16"/>
              </a:ext>
            </a:extLst>
          </a:blip>
          <a:srcRect l="0" r="0" t="0" b="0"/>
          <a:stretch/>
        </p:blipFill>
        <p:spPr>
          <a:xfrm>
            <a:off x="7097148" y="5121863"/>
            <a:ext cx="665729" cy="413747"/>
          </a:xfrm>
          <a:prstGeom prst="rect">
            <a:avLst/>
          </a:prstGeom>
        </p:spPr>
      </p:pic>
      <p:pic>
        <p:nvPicPr>
          <p:cNvPr id="13" name="Line 8" descr="preencoded.png">    </p:cNvPr>
          <p:cNvPicPr>
            <a:picLocks noChangeAspect="1"/>
          </p:cNvPicPr>
          <p:nvPr/>
        </p:nvPicPr>
        <p:blipFill>
          <a:blip r:embed="rId17">
            <a:extLst>
              <a:ext uri="{96DAC541-7B7A-43D3-8B79-37D633B846F1}">
                <asvg:svgBlip xmlns:asvg="http://schemas.microsoft.com/office/drawing/2016/SVG/main" r:embed="rId18"/>
              </a:ext>
            </a:extLst>
          </a:blip>
          <a:srcRect l="0" r="0" t="0" b="0"/>
          <a:stretch/>
        </p:blipFill>
        <p:spPr>
          <a:xfrm>
            <a:off x="6624768" y="6251574"/>
            <a:ext cx="1174463" cy="544119"/>
          </a:xfrm>
          <a:prstGeom prst="rect">
            <a:avLst/>
          </a:prstGeom>
        </p:spPr>
      </p:pic>
      <p:pic>
        <p:nvPicPr>
          <p:cNvPr id="14" name="Line 5" descr="preencoded.png">    </p:cNvPr>
          <p:cNvPicPr>
            <a:picLocks noChangeAspect="1"/>
          </p:cNvPicPr>
          <p:nvPr/>
        </p:nvPicPr>
        <p:blipFill>
          <a:blip r:embed="rId19">
            <a:extLst>
              <a:ext uri="{96DAC541-7B7A-43D3-8B79-37D633B846F1}">
                <asvg:svgBlip xmlns:asvg="http://schemas.microsoft.com/office/drawing/2016/SVG/main" r:embed="rId20"/>
              </a:ext>
            </a:extLst>
          </a:blip>
          <a:srcRect l="0" r="0" t="0" b="0"/>
          <a:stretch/>
        </p:blipFill>
        <p:spPr>
          <a:xfrm>
            <a:off x="4512339" y="3091285"/>
            <a:ext cx="3383701" cy="1463843"/>
          </a:xfrm>
          <a:prstGeom prst="rect">
            <a:avLst/>
          </a:prstGeom>
        </p:spPr>
      </p:pic>
      <p:pic>
        <p:nvPicPr>
          <p:cNvPr id="15" name="Line 3" descr="preencoded.png">    </p:cNvPr>
          <p:cNvPicPr>
            <a:picLocks noChangeAspect="1"/>
          </p:cNvPicPr>
          <p:nvPr/>
        </p:nvPicPr>
        <p:blipFill>
          <a:blip r:embed="rId21">
            <a:extLst>
              <a:ext uri="{96DAC541-7B7A-43D3-8B79-37D633B846F1}">
                <asvg:svgBlip xmlns:asvg="http://schemas.microsoft.com/office/drawing/2016/SVG/main" r:embed="rId22"/>
              </a:ext>
            </a:extLst>
          </a:blip>
          <a:srcRect l="0" r="0" t="0" b="0"/>
          <a:stretch/>
        </p:blipFill>
        <p:spPr>
          <a:xfrm>
            <a:off x="4259433" y="5331276"/>
            <a:ext cx="2691203" cy="3589484"/>
          </a:xfrm>
          <a:prstGeom prst="rect">
            <a:avLst/>
          </a:prstGeom>
        </p:spPr>
      </p:pic>
      <p:pic>
        <p:nvPicPr>
          <p:cNvPr id="16" name="Line 4" descr="preencoded.png">    </p:cNvPr>
          <p:cNvPicPr>
            <a:picLocks noChangeAspect="1"/>
          </p:cNvPicPr>
          <p:nvPr/>
        </p:nvPicPr>
        <p:blipFill>
          <a:blip r:embed="rId23">
            <a:extLst>
              <a:ext uri="{96DAC541-7B7A-43D3-8B79-37D633B846F1}">
                <asvg:svgBlip xmlns:asvg="http://schemas.microsoft.com/office/drawing/2016/SVG/main" r:embed="rId24"/>
              </a:ext>
            </a:extLst>
          </a:blip>
          <a:srcRect l="0" r="0" t="0" b="0"/>
          <a:stretch/>
        </p:blipFill>
        <p:spPr>
          <a:xfrm>
            <a:off x="5460467" y="6296737"/>
            <a:ext cx="1899624" cy="1734165"/>
          </a:xfrm>
          <a:prstGeom prst="rect">
            <a:avLst/>
          </a:prstGeom>
        </p:spPr>
      </p:pic>
      <p:pic>
        <p:nvPicPr>
          <p:cNvPr id="17" name="Group 1010105232" descr="preencoded.png">    </p:cNvPr>
          <p:cNvPicPr>
            <a:picLocks noChangeAspect="1"/>
          </p:cNvPicPr>
          <p:nvPr/>
        </p:nvPicPr>
        <p:blipFill>
          <a:blip r:embed="rId25"/>
          <a:srcRect l="0" r="0" t="0" b="0"/>
          <a:stretch/>
        </p:blipFill>
        <p:spPr>
          <a:xfrm>
            <a:off x="7772400" y="4019473"/>
            <a:ext cx="438226" cy="449395"/>
          </a:xfrm>
          <a:prstGeom prst="rect">
            <a:avLst/>
          </a:prstGeom>
        </p:spPr>
      </p:pic>
      <p:pic>
        <p:nvPicPr>
          <p:cNvPr id="18" name="6a2ab2ff8cc7a08a6aa0989e_OMETi-02 1" descr="preencoded.png">    </p:cNvPr>
          <p:cNvPicPr>
            <a:picLocks noChangeAspect="1"/>
          </p:cNvPicPr>
          <p:nvPr/>
        </p:nvPicPr>
        <p:blipFill>
          <a:blip r:embed="rId26"/>
          <a:srcRect l="0" r="0" t="0" b="0"/>
          <a:stretch/>
        </p:blipFill>
        <p:spPr>
          <a:xfrm>
            <a:off x="7210425" y="8000656"/>
            <a:ext cx="2105146" cy="800444"/>
          </a:xfrm>
          <a:prstGeom prst="rect">
            <a:avLst/>
          </a:prstGeom>
        </p:spPr>
      </p:pic>
      <p:pic>
        <p:nvPicPr>
          <p:cNvPr id="19" name="6a56930fe3537da7c9493091_OWwai66 1" descr="preencoded.png">    </p:cNvPr>
          <p:cNvPicPr>
            <a:picLocks noChangeAspect="1"/>
          </p:cNvPicPr>
          <p:nvPr/>
        </p:nvPicPr>
        <p:blipFill>
          <a:blip r:embed="rId27"/>
          <a:srcRect l="0" r="0" t="0" b="0"/>
          <a:stretch/>
        </p:blipFill>
        <p:spPr>
          <a:xfrm>
            <a:off x="8039100" y="1514148"/>
            <a:ext cx="2009887" cy="762328"/>
          </a:xfrm>
          <a:prstGeom prst="rect">
            <a:avLst/>
          </a:prstGeom>
        </p:spPr>
      </p:pic>
      <p:pic>
        <p:nvPicPr>
          <p:cNvPr id="20" name="image-8-2.png" descr="preencoded.png">    </p:cNvPr>
          <p:cNvPicPr>
            <a:picLocks noChangeAspect="1"/>
          </p:cNvPicPr>
          <p:nvPr/>
        </p:nvPicPr>
        <p:blipFill>
          <a:blip r:embed="rId28"/>
          <a:srcRect l="0" r="0" t="0" b="0"/>
          <a:stretch/>
        </p:blipFill>
        <p:spPr>
          <a:xfrm>
            <a:off x="16024408" y="520957"/>
            <a:ext cx="1438343" cy="390776"/>
          </a:xfrm>
          <a:prstGeom prst="rect">
            <a:avLst/>
          </a:prstGeom>
        </p:spPr>
      </p:pic>
      <p:sp>
        <p:nvSpPr>
          <p:cNvPr id="21" name="OMeT Exchange Rules based exchange for all-to-all cleared swaps"/>
          <p:cNvSpPr/>
          <p:nvPr/>
        </p:nvSpPr>
        <p:spPr>
          <a:xfrm>
            <a:off x="8191500" y="2162175"/>
            <a:ext cx="4410075" cy="457200"/>
          </a:xfrm>
          <a:prstGeom prst="rect">
            <a:avLst/>
          </a:prstGeom>
          <a:noFill/>
          <a:ln/>
        </p:spPr>
        <p:txBody>
          <a:bodyPr wrap="square" lIns="0" tIns="0" rIns="0" bIns="0" rtlCol="0" anchor="t"/>
          <a:lstStyle/>
          <a:p>
            <a:pPr algn="l" indent="0" marL="0">
              <a:lnSpc>
                <a:spcPts val="1800"/>
              </a:lnSpc>
              <a:buNone/>
            </a:pPr>
            <a:r>
              <a:rPr lang="en-US" sz="1875" b="1" dirty="0">
                <a:solidFill>
                  <a:srgbClr val="000000"/>
                </a:solidFill>
                <a:latin typeface="Inter Bold" pitchFamily="34" charset="0"/>
                <a:ea typeface="Inter Bold" pitchFamily="34" charset="-122"/>
                <a:cs typeface="Inter Bold" pitchFamily="34" charset="-120"/>
              </a:rPr>
              <a:t>OMeT Exchange: </a:t>
            </a:r>
            <a:pPr algn="l" indent="0" marL="0">
              <a:lnSpc>
                <a:spcPts val="1800"/>
              </a:lnSpc>
              <a:buNone/>
            </a:pPr>
            <a:r>
              <a:rPr lang="en-US" sz="1875" dirty="0">
                <a:solidFill>
                  <a:srgbClr val="000000"/>
                </a:solidFill>
                <a:latin typeface="Inter Medium" pitchFamily="34" charset="0"/>
                <a:ea typeface="Inter Medium" pitchFamily="34" charset="-122"/>
                <a:cs typeface="Inter Medium" pitchFamily="34" charset="-120"/>
              </a:rPr>
              <a:t>Rules based exchange for all-to-all cleared swaps.</a:t>
            </a:r>
            <a:endParaRPr lang="en-US" sz="1875" dirty="0"/>
          </a:p>
        </p:txBody>
      </p:sp>
      <p:sp>
        <p:nvSpPr>
          <p:cNvPr id="22" name="A patent-pending three-phase protocol structuring how participants interact"/>
          <p:cNvSpPr/>
          <p:nvPr/>
        </p:nvSpPr>
        <p:spPr>
          <a:xfrm>
            <a:off x="8162925" y="3248025"/>
            <a:ext cx="4124325" cy="685800"/>
          </a:xfrm>
          <a:prstGeom prst="rect">
            <a:avLst/>
          </a:prstGeom>
          <a:noFill/>
          <a:ln/>
        </p:spPr>
        <p:txBody>
          <a:bodyPr wrap="square" lIns="0" tIns="0" rIns="0" bIns="0" rtlCol="0" anchor="t"/>
          <a:lstStyle/>
          <a:p>
            <a:pPr algn="l" indent="0" marL="0">
              <a:lnSpc>
                <a:spcPts val="1800"/>
              </a:lnSpc>
              <a:buNone/>
            </a:pPr>
            <a:r>
              <a:rPr lang="en-US" sz="1875" dirty="0">
                <a:solidFill>
                  <a:srgbClr val="000000"/>
                </a:solidFill>
                <a:latin typeface="Inter Regular" pitchFamily="34" charset="0"/>
                <a:ea typeface="Inter Regular" pitchFamily="34" charset="-122"/>
                <a:cs typeface="Inter Regular" pitchFamily="34" charset="-120"/>
              </a:rPr>
              <a:t>A patent-pending three-phase protocol structuring how participants interact.</a:t>
            </a:r>
            <a:endParaRPr lang="en-US" sz="1875" dirty="0"/>
          </a:p>
        </p:txBody>
      </p:sp>
      <p:sp>
        <p:nvSpPr>
          <p:cNvPr id="23" name="Open Request Phase Participants submit requests for soliciting quotes with the intent to trade"/>
          <p:cNvSpPr/>
          <p:nvPr/>
        </p:nvSpPr>
        <p:spPr>
          <a:xfrm>
            <a:off x="8315325" y="4391025"/>
            <a:ext cx="4038600" cy="685800"/>
          </a:xfrm>
          <a:prstGeom prst="rect">
            <a:avLst/>
          </a:prstGeom>
          <a:noFill/>
          <a:ln/>
        </p:spPr>
        <p:txBody>
          <a:bodyPr wrap="square" lIns="0" tIns="0" rIns="0" bIns="0" rtlCol="0" anchor="t"/>
          <a:lstStyle/>
          <a:p>
            <a:pPr algn="l" indent="0" marL="0">
              <a:lnSpc>
                <a:spcPts val="1800"/>
              </a:lnSpc>
              <a:buNone/>
            </a:pPr>
            <a:r>
              <a:rPr lang="en-US" sz="1650" b="1" dirty="0">
                <a:solidFill>
                  <a:srgbClr val="000000"/>
                </a:solidFill>
                <a:latin typeface="Inter Bold" pitchFamily="34" charset="0"/>
                <a:ea typeface="Inter Bold" pitchFamily="34" charset="-122"/>
                <a:cs typeface="Inter Bold" pitchFamily="34" charset="-120"/>
              </a:rPr>
              <a:t>Open Request Phase: </a:t>
            </a:r>
            <a:pPr algn="l" indent="0" marL="0">
              <a:lnSpc>
                <a:spcPts val="1800"/>
              </a:lnSpc>
              <a:buNone/>
            </a:pPr>
            <a:r>
              <a:rPr lang="en-US" sz="1650" dirty="0">
                <a:solidFill>
                  <a:srgbClr val="000000"/>
                </a:solidFill>
                <a:latin typeface="Inter Regular" pitchFamily="34" charset="0"/>
                <a:ea typeface="Inter Regular" pitchFamily="34" charset="-122"/>
                <a:cs typeface="Inter Regular" pitchFamily="34" charset="-120"/>
              </a:rPr>
              <a:t>Participants submit requests for soliciting quotes with the intent to trade.</a:t>
            </a:r>
            <a:endParaRPr lang="en-US" sz="1650" dirty="0"/>
          </a:p>
        </p:txBody>
      </p:sp>
      <p:sp>
        <p:nvSpPr>
          <p:cNvPr id="24" name="Open Market Phase Participants submit orders to trade in live markets"/>
          <p:cNvSpPr/>
          <p:nvPr/>
        </p:nvSpPr>
        <p:spPr>
          <a:xfrm>
            <a:off x="8315325" y="5534025"/>
            <a:ext cx="3848100" cy="457200"/>
          </a:xfrm>
          <a:prstGeom prst="rect">
            <a:avLst/>
          </a:prstGeom>
          <a:noFill/>
          <a:ln/>
        </p:spPr>
        <p:txBody>
          <a:bodyPr wrap="square" lIns="0" tIns="0" rIns="0" bIns="0" rtlCol="0" anchor="t"/>
          <a:lstStyle/>
          <a:p>
            <a:pPr algn="l" indent="0" marL="0">
              <a:lnSpc>
                <a:spcPts val="1800"/>
              </a:lnSpc>
              <a:buNone/>
            </a:pPr>
            <a:r>
              <a:rPr lang="en-US" sz="1650" b="1" dirty="0">
                <a:solidFill>
                  <a:srgbClr val="000000"/>
                </a:solidFill>
                <a:latin typeface="Inter Bold" pitchFamily="34" charset="0"/>
                <a:ea typeface="Inter Bold" pitchFamily="34" charset="-122"/>
                <a:cs typeface="Inter Bold" pitchFamily="34" charset="-120"/>
              </a:rPr>
              <a:t>Open Market Phase: </a:t>
            </a:r>
            <a:pPr algn="l" indent="0" marL="0">
              <a:lnSpc>
                <a:spcPts val="1800"/>
              </a:lnSpc>
              <a:buNone/>
            </a:pPr>
            <a:r>
              <a:rPr lang="en-US" sz="1650" dirty="0">
                <a:solidFill>
                  <a:srgbClr val="000000"/>
                </a:solidFill>
                <a:latin typeface="Inter Regular" pitchFamily="34" charset="0"/>
                <a:ea typeface="Inter Regular" pitchFamily="34" charset="-122"/>
                <a:cs typeface="Inter Regular" pitchFamily="34" charset="-120"/>
              </a:rPr>
              <a:t>Participants submit orders to trade in live markets.</a:t>
            </a:r>
            <a:endParaRPr lang="en-US" sz="1650" dirty="0"/>
          </a:p>
        </p:txBody>
      </p:sp>
      <p:sp>
        <p:nvSpPr>
          <p:cNvPr id="25" name="Open Mid Match Phase Participants submit an order at a system generated mid for matching"/>
          <p:cNvSpPr/>
          <p:nvPr/>
        </p:nvSpPr>
        <p:spPr>
          <a:xfrm>
            <a:off x="8315325" y="6515100"/>
            <a:ext cx="4019550" cy="685800"/>
          </a:xfrm>
          <a:prstGeom prst="rect">
            <a:avLst/>
          </a:prstGeom>
          <a:noFill/>
          <a:ln/>
        </p:spPr>
        <p:txBody>
          <a:bodyPr wrap="square" lIns="0" tIns="0" rIns="0" bIns="0" rtlCol="0" anchor="t"/>
          <a:lstStyle/>
          <a:p>
            <a:pPr algn="l" indent="0" marL="0">
              <a:lnSpc>
                <a:spcPts val="1800"/>
              </a:lnSpc>
              <a:buNone/>
            </a:pPr>
            <a:r>
              <a:rPr lang="en-US" sz="1650" b="1" dirty="0">
                <a:solidFill>
                  <a:srgbClr val="000000"/>
                </a:solidFill>
                <a:latin typeface="Inter Bold" pitchFamily="34" charset="0"/>
                <a:ea typeface="Inter Bold" pitchFamily="34" charset="-122"/>
                <a:cs typeface="Inter Bold" pitchFamily="34" charset="-120"/>
              </a:rPr>
              <a:t>Open Mid Match Phase: </a:t>
            </a:r>
            <a:pPr algn="l" indent="0" marL="0">
              <a:lnSpc>
                <a:spcPts val="1800"/>
              </a:lnSpc>
              <a:buNone/>
            </a:pPr>
            <a:r>
              <a:rPr lang="en-US" sz="1650" dirty="0">
                <a:solidFill>
                  <a:srgbClr val="000000"/>
                </a:solidFill>
                <a:latin typeface="Inter Regular" pitchFamily="34" charset="0"/>
                <a:ea typeface="Inter Regular" pitchFamily="34" charset="-122"/>
                <a:cs typeface="Inter Regular" pitchFamily="34" charset="-120"/>
              </a:rPr>
              <a:t>Participants submit an order at a system generated mid for matching.</a:t>
            </a:r>
            <a:endParaRPr lang="en-US" sz="1650" dirty="0"/>
          </a:p>
        </p:txBody>
      </p:sp>
      <p:sp>
        <p:nvSpPr>
          <p:cNvPr id="26" name="OMeT Intelligence AI-powered data services that analyze and deliver insights analytics and decision support to market participants"/>
          <p:cNvSpPr/>
          <p:nvPr/>
        </p:nvSpPr>
        <p:spPr>
          <a:xfrm>
            <a:off x="7439025" y="8724900"/>
            <a:ext cx="5524500" cy="685800"/>
          </a:xfrm>
          <a:prstGeom prst="rect">
            <a:avLst/>
          </a:prstGeom>
          <a:noFill/>
          <a:ln/>
        </p:spPr>
        <p:txBody>
          <a:bodyPr wrap="square" lIns="0" tIns="0" rIns="0" bIns="0" rtlCol="0" anchor="t"/>
          <a:lstStyle/>
          <a:p>
            <a:pPr algn="l" indent="0" marL="0">
              <a:lnSpc>
                <a:spcPts val="1800"/>
              </a:lnSpc>
              <a:buNone/>
            </a:pPr>
            <a:r>
              <a:rPr lang="en-US" sz="1875" b="1" dirty="0">
                <a:solidFill>
                  <a:srgbClr val="000000"/>
                </a:solidFill>
                <a:latin typeface="Inter Bold" pitchFamily="34" charset="0"/>
                <a:ea typeface="Inter Bold" pitchFamily="34" charset="-122"/>
                <a:cs typeface="Inter Bold" pitchFamily="34" charset="-120"/>
              </a:rPr>
              <a:t>OMeT Intelligence:</a:t>
            </a:r>
            <a:pPr algn="l" indent="0" marL="0">
              <a:lnSpc>
                <a:spcPts val="1800"/>
              </a:lnSpc>
              <a:buNone/>
            </a:pPr>
            <a:r>
              <a:rPr lang="en-US" sz="1875" dirty="0">
                <a:solidFill>
                  <a:srgbClr val="000000"/>
                </a:solidFill>
                <a:latin typeface="Inter Regular" pitchFamily="34" charset="0"/>
                <a:ea typeface="Inter Regular" pitchFamily="34" charset="-122"/>
                <a:cs typeface="Inter Regular" pitchFamily="34" charset="-120"/>
              </a:rPr>
              <a:t> AI-powered data services that analyze and deliver insights, analytics and decision support to market participants.</a:t>
            </a:r>
            <a:endParaRPr lang="en-US" sz="1875" dirty="0"/>
          </a:p>
        </p:txBody>
      </p:sp>
      <p:sp>
        <p:nvSpPr>
          <p:cNvPr id="27" name="Audit trail and data Intelligence Waterfall"/>
          <p:cNvSpPr/>
          <p:nvPr/>
        </p:nvSpPr>
        <p:spPr>
          <a:xfrm>
            <a:off x="7753350" y="7734300"/>
            <a:ext cx="4714875" cy="285750"/>
          </a:xfrm>
          <a:prstGeom prst="rect">
            <a:avLst/>
          </a:prstGeom>
          <a:noFill/>
          <a:ln/>
        </p:spPr>
        <p:txBody>
          <a:bodyPr wrap="square" lIns="0" tIns="0" rIns="0" bIns="0" rtlCol="0" anchor="t"/>
          <a:lstStyle/>
          <a:p>
            <a:pPr algn="l" indent="0" marL="0">
              <a:lnSpc>
                <a:spcPts val="2250"/>
              </a:lnSpc>
              <a:buNone/>
            </a:pPr>
            <a:r>
              <a:rPr lang="en-US" sz="1875" dirty="0">
                <a:solidFill>
                  <a:srgbClr val="000000"/>
                </a:solidFill>
                <a:latin typeface="Inter Regular" pitchFamily="34" charset="0"/>
                <a:ea typeface="Inter Regular" pitchFamily="34" charset="-122"/>
                <a:cs typeface="Inter Regular" pitchFamily="34" charset="-120"/>
              </a:rPr>
              <a:t>Audit trail and data Intelligence Waterfall.</a:t>
            </a:r>
            <a:endParaRPr lang="en-US" sz="1875" dirty="0"/>
          </a:p>
        </p:txBody>
      </p:sp>
      <p:sp>
        <p:nvSpPr>
          <p:cNvPr id="28" name="eMOD"/>
          <p:cNvSpPr/>
          <p:nvPr/>
        </p:nvSpPr>
        <p:spPr>
          <a:xfrm>
            <a:off x="8172450" y="2790825"/>
            <a:ext cx="1800225" cy="371475"/>
          </a:xfrm>
          <a:prstGeom prst="rect">
            <a:avLst/>
          </a:prstGeom>
          <a:noFill/>
          <a:ln/>
        </p:spPr>
        <p:txBody>
          <a:bodyPr wrap="square" lIns="0" tIns="0" rIns="0" bIns="0" rtlCol="0" anchor="t"/>
          <a:lstStyle/>
          <a:p>
            <a:pPr algn="l" indent="0" marL="0">
              <a:lnSpc>
                <a:spcPts val="2850"/>
              </a:lnSpc>
              <a:buNone/>
            </a:pPr>
            <a:r>
              <a:rPr lang="en-US" sz="2400" b="1" dirty="0">
                <a:solidFill>
                  <a:srgbClr val="FFFFFF"/>
                </a:solidFill>
                <a:latin typeface="Inter Bold" pitchFamily="34" charset="0"/>
                <a:ea typeface="Inter Bold" pitchFamily="34" charset="-122"/>
                <a:cs typeface="Inter Bold" pitchFamily="34" charset="-120"/>
              </a:rPr>
              <a:t>eMOD</a:t>
            </a:r>
            <a:endParaRPr lang="en-US" sz="2400" dirty="0"/>
          </a:p>
        </p:txBody>
      </p:sp>
      <p:sp>
        <p:nvSpPr>
          <p:cNvPr id="29" name="ORP"/>
          <p:cNvSpPr/>
          <p:nvPr/>
        </p:nvSpPr>
        <p:spPr>
          <a:xfrm>
            <a:off x="8315325" y="4067175"/>
            <a:ext cx="1847850" cy="371475"/>
          </a:xfrm>
          <a:prstGeom prst="rect">
            <a:avLst/>
          </a:prstGeom>
          <a:noFill/>
          <a:ln/>
        </p:spPr>
        <p:txBody>
          <a:bodyPr wrap="square" lIns="0" tIns="0" rIns="0" bIns="0" rtlCol="0" anchor="t"/>
          <a:lstStyle/>
          <a:p>
            <a:pPr algn="l" indent="0" marL="0">
              <a:lnSpc>
                <a:spcPts val="2850"/>
              </a:lnSpc>
              <a:buNone/>
            </a:pPr>
            <a:r>
              <a:rPr lang="en-US" sz="2400" b="1" dirty="0">
                <a:solidFill>
                  <a:srgbClr val="FFFFFF"/>
                </a:solidFill>
                <a:latin typeface="Inter Bold" pitchFamily="34" charset="0"/>
                <a:ea typeface="Inter Bold" pitchFamily="34" charset="-122"/>
                <a:cs typeface="Inter Bold" pitchFamily="34" charset="-120"/>
              </a:rPr>
              <a:t>ORP</a:t>
            </a:r>
            <a:endParaRPr lang="en-US" sz="2400" dirty="0"/>
          </a:p>
        </p:txBody>
      </p:sp>
      <p:sp>
        <p:nvSpPr>
          <p:cNvPr id="30" name="OMP"/>
          <p:cNvSpPr/>
          <p:nvPr/>
        </p:nvSpPr>
        <p:spPr>
          <a:xfrm>
            <a:off x="8315325" y="5162550"/>
            <a:ext cx="1847850" cy="371475"/>
          </a:xfrm>
          <a:prstGeom prst="rect">
            <a:avLst/>
          </a:prstGeom>
          <a:noFill/>
          <a:ln/>
        </p:spPr>
        <p:txBody>
          <a:bodyPr wrap="square" lIns="0" tIns="0" rIns="0" bIns="0" rtlCol="0" anchor="t"/>
          <a:lstStyle/>
          <a:p>
            <a:pPr algn="l" indent="0" marL="0">
              <a:lnSpc>
                <a:spcPts val="2850"/>
              </a:lnSpc>
              <a:buNone/>
            </a:pPr>
            <a:r>
              <a:rPr lang="en-US" sz="2400" b="1" dirty="0">
                <a:solidFill>
                  <a:srgbClr val="FFFFFF"/>
                </a:solidFill>
                <a:latin typeface="Inter Bold" pitchFamily="34" charset="0"/>
                <a:ea typeface="Inter Bold" pitchFamily="34" charset="-122"/>
                <a:cs typeface="Inter Bold" pitchFamily="34" charset="-120"/>
              </a:rPr>
              <a:t>OMP</a:t>
            </a:r>
            <a:endParaRPr lang="en-US" sz="2400" dirty="0"/>
          </a:p>
        </p:txBody>
      </p:sp>
      <p:sp>
        <p:nvSpPr>
          <p:cNvPr id="31" name="OMM"/>
          <p:cNvSpPr/>
          <p:nvPr/>
        </p:nvSpPr>
        <p:spPr>
          <a:xfrm>
            <a:off x="8315325" y="6134100"/>
            <a:ext cx="1847850" cy="371475"/>
          </a:xfrm>
          <a:prstGeom prst="rect">
            <a:avLst/>
          </a:prstGeom>
          <a:noFill/>
          <a:ln/>
        </p:spPr>
        <p:txBody>
          <a:bodyPr wrap="square" lIns="0" tIns="0" rIns="0" bIns="0" rtlCol="0" anchor="t"/>
          <a:lstStyle/>
          <a:p>
            <a:pPr algn="l" indent="0" marL="0">
              <a:lnSpc>
                <a:spcPts val="2850"/>
              </a:lnSpc>
              <a:buNone/>
            </a:pPr>
            <a:r>
              <a:rPr lang="en-US" sz="2400" b="1" dirty="0">
                <a:solidFill>
                  <a:srgbClr val="FFFFFF"/>
                </a:solidFill>
                <a:latin typeface="Inter Bold" pitchFamily="34" charset="0"/>
                <a:ea typeface="Inter Bold" pitchFamily="34" charset="-122"/>
                <a:cs typeface="Inter Bold" pitchFamily="34" charset="-120"/>
              </a:rPr>
              <a:t>OMM</a:t>
            </a:r>
            <a:endParaRPr lang="en-US" sz="2400" dirty="0"/>
          </a:p>
        </p:txBody>
      </p:sp>
      <p:sp>
        <p:nvSpPr>
          <p:cNvPr id="32" name="OWA-i"/>
          <p:cNvSpPr/>
          <p:nvPr/>
        </p:nvSpPr>
        <p:spPr>
          <a:xfrm>
            <a:off x="7753350" y="7305675"/>
            <a:ext cx="1800225" cy="428625"/>
          </a:xfrm>
          <a:prstGeom prst="rect">
            <a:avLst/>
          </a:prstGeom>
          <a:noFill/>
          <a:ln/>
        </p:spPr>
        <p:txBody>
          <a:bodyPr wrap="square" lIns="0" tIns="0" rIns="0" bIns="0" rtlCol="0" anchor="t"/>
          <a:lstStyle/>
          <a:p>
            <a:pPr algn="l" indent="0" marL="0">
              <a:lnSpc>
                <a:spcPts val="3300"/>
              </a:lnSpc>
              <a:buNone/>
            </a:pPr>
            <a:r>
              <a:rPr lang="en-US" sz="2775" b="1" dirty="0">
                <a:solidFill>
                  <a:srgbClr val="FFFFFF"/>
                </a:solidFill>
                <a:latin typeface="Inter Bold" pitchFamily="34" charset="0"/>
                <a:ea typeface="Inter Bold" pitchFamily="34" charset="-122"/>
                <a:cs typeface="Inter Bold" pitchFamily="34" charset="-120"/>
              </a:rPr>
              <a:t>OWA-i</a:t>
            </a:r>
            <a:endParaRPr lang="en-US" sz="2775" dirty="0"/>
          </a:p>
        </p:txBody>
      </p:sp>
      <p:sp>
        <p:nvSpPr>
          <p:cNvPr id="33" name="OMeT is the glass box for the OTC markets Transparent Institutional Infrastructure for execution clearing connectivity and intelligence where every rule is visible and every trade compounds"/>
          <p:cNvSpPr/>
          <p:nvPr/>
        </p:nvSpPr>
        <p:spPr>
          <a:xfrm>
            <a:off x="628650" y="495300"/>
            <a:ext cx="6734175" cy="2200275"/>
          </a:xfrm>
          <a:prstGeom prst="rect">
            <a:avLst/>
          </a:prstGeom>
          <a:noFill/>
          <a:ln/>
        </p:spPr>
        <p:txBody>
          <a:bodyPr wrap="square" lIns="0" tIns="0" rIns="0" bIns="0" rtlCol="0" anchor="t"/>
          <a:lstStyle/>
          <a:p>
            <a:pPr algn="l" indent="0" marL="0">
              <a:lnSpc>
                <a:spcPts val="3225"/>
              </a:lnSpc>
              <a:buNone/>
            </a:pPr>
            <a:endParaRPr lang="en-US" sz="3000" dirty="0"/>
          </a:p>
          <a:p>
            <a:pPr algn="l" indent="0" marL="0">
              <a:lnSpc>
                <a:spcPts val="2775"/>
              </a:lnSpc>
              <a:buNone/>
            </a:pPr>
            <a:r>
              <a:rPr lang="en-US" sz="2550" b="1" dirty="0">
                <a:solidFill>
                  <a:srgbClr val="FFFFFF"/>
                </a:solidFill>
                <a:latin typeface="Inter Bold" pitchFamily="34" charset="0"/>
                <a:ea typeface="Inter Bold" pitchFamily="34" charset="-122"/>
                <a:cs typeface="Inter Bold" pitchFamily="34" charset="-120"/>
              </a:rPr>
              <a:t>OMeT</a:t>
            </a:r>
            <a:pPr algn="l" indent="0" marL="0">
              <a:lnSpc>
                <a:spcPts val="2775"/>
              </a:lnSpc>
              <a:buNone/>
            </a:pPr>
            <a:r>
              <a:rPr lang="en-US" sz="2250" dirty="0">
                <a:solidFill>
                  <a:srgbClr val="FFFFFF"/>
                </a:solidFill>
                <a:latin typeface="Inter Regular" pitchFamily="34" charset="0"/>
                <a:ea typeface="Inter Regular" pitchFamily="34" charset="-122"/>
                <a:cs typeface="Inter Regular" pitchFamily="34" charset="-120"/>
              </a:rPr>
              <a:t> </a:t>
            </a:r>
            <a:pPr algn="l" indent="0" marL="0">
              <a:lnSpc>
                <a:spcPts val="2700"/>
              </a:lnSpc>
              <a:buNone/>
            </a:pPr>
            <a:r>
              <a:rPr lang="en-US" sz="2100" dirty="0">
                <a:solidFill>
                  <a:srgbClr val="FFFFFF"/>
                </a:solidFill>
                <a:latin typeface="Inter Regular" pitchFamily="34" charset="0"/>
                <a:ea typeface="Inter Regular" pitchFamily="34" charset="-122"/>
                <a:cs typeface="Inter Regular" pitchFamily="34" charset="-120"/>
              </a:rPr>
              <a:t>is the “glass box” for the OTC markets: Transparent Institutional Infrastructure for execution, clearing connectivity and intelligence, where every rule is visible and every trade compounds.</a:t>
            </a:r>
            <a:pPr algn="l" indent="0" marL="0">
              <a:lnSpc>
                <a:spcPts val="2700"/>
              </a:lnSpc>
              <a:buNone/>
            </a:pPr>
            <a:endParaRPr lang="en-US" sz="3000" dirty="0"/>
          </a:p>
        </p:txBody>
      </p:sp>
      <p:sp>
        <p:nvSpPr>
          <p:cNvPr id="34" name="One connected system not a feature collection"/>
          <p:cNvSpPr/>
          <p:nvPr/>
        </p:nvSpPr>
        <p:spPr>
          <a:xfrm>
            <a:off x="12934950" y="4724400"/>
            <a:ext cx="5076825" cy="838200"/>
          </a:xfrm>
          <a:prstGeom prst="rect">
            <a:avLst/>
          </a:prstGeom>
          <a:noFill/>
          <a:ln/>
        </p:spPr>
        <p:txBody>
          <a:bodyPr wrap="square" lIns="0" tIns="0" rIns="0" bIns="0" rtlCol="0" anchor="t"/>
          <a:lstStyle/>
          <a:p>
            <a:pPr algn="l" indent="0" marL="0">
              <a:buNone/>
            </a:pPr>
            <a:r>
              <a:rPr lang="en-US" sz="3075" b="1" dirty="0">
                <a:solidFill>
                  <a:srgbClr val="074B4E"/>
                </a:solidFill>
                <a:latin typeface="Open Sans Bold" pitchFamily="34" charset="0"/>
                <a:ea typeface="Open Sans Bold" pitchFamily="34" charset="-122"/>
                <a:cs typeface="Open Sans Bold" pitchFamily="34" charset="-120"/>
              </a:rPr>
              <a:t>One connected system, not a </a:t>
            </a:r>
            <a:pPr algn="l" indent="0" marL="0">
              <a:buNone/>
            </a:pPr>
            <a:r>
              <a:rPr lang="en-US" sz="3075" b="1" dirty="0">
                <a:solidFill>
                  <a:srgbClr val="074B4E"/>
                </a:solidFill>
                <a:latin typeface="Open Sans ExtraBold" pitchFamily="34" charset="0"/>
                <a:ea typeface="Open Sans ExtraBold" pitchFamily="34" charset="-122"/>
                <a:cs typeface="Open Sans ExtraBold" pitchFamily="34" charset="-120"/>
              </a:rPr>
              <a:t>feature collection.</a:t>
            </a:r>
            <a:endParaRPr lang="en-US" sz="3075" dirty="0"/>
          </a:p>
        </p:txBody>
      </p:sp>
      <p:sp>
        <p:nvSpPr>
          <p:cNvPr id="35" name="Text 0"/>
          <p:cNvSpPr/>
          <p:nvPr/>
        </p:nvSpPr>
        <p:spPr>
          <a:xfrm>
            <a:off x="628650" y="466725"/>
            <a:ext cx="16716375" cy="323850"/>
          </a:xfrm>
          <a:prstGeom prst="rect">
            <a:avLst/>
          </a:prstGeom>
          <a:noFill/>
          <a:ln/>
        </p:spPr>
        <p:txBody>
          <a:bodyPr wrap="square" lIns="0" tIns="0" rIns="0" bIns="0" rtlCol="0" anchor="t"/>
          <a:lstStyle/>
          <a:p>
            <a:pPr algn="l" indent="0" marL="0">
              <a:lnSpc>
                <a:spcPts val="2520"/>
              </a:lnSpc>
              <a:buNone/>
            </a:pPr>
            <a:r>
              <a:rPr lang="en-US" sz="1800" dirty="0">
                <a:solidFill>
                  <a:srgbClr val="A7FFCC"/>
                </a:solidFill>
                <a:latin typeface="IBM Plex Mono Regular" pitchFamily="34" charset="0"/>
                <a:ea typeface="IBM Plex Mono Regular" pitchFamily="34" charset="-122"/>
                <a:cs typeface="IBM Plex Mono Regular" pitchFamily="34" charset="-120"/>
              </a:rPr>
              <a:t>THE SYSTEM</a:t>
            </a:r>
            <a:endParaRPr lang="en-US" sz="1800" dirty="0"/>
          </a:p>
        </p:txBody>
      </p:sp>
      <p:sp>
        <p:nvSpPr>
          <p:cNvPr id="36" name="name_01  EXECUTION"/>
          <p:cNvSpPr/>
          <p:nvPr/>
        </p:nvSpPr>
        <p:spPr>
          <a:xfrm>
            <a:off x="1219200" y="7439025"/>
            <a:ext cx="2152650" cy="142875"/>
          </a:xfrm>
          <a:prstGeom prst="rect">
            <a:avLst/>
          </a:prstGeom>
          <a:noFill/>
          <a:ln/>
        </p:spPr>
        <p:txBody>
          <a:bodyPr wrap="square" lIns="0" tIns="0" rIns="0" bIns="0" rtlCol="0" anchor="t"/>
          <a:lstStyle/>
          <a:p>
            <a:pPr algn="l" indent="0" marL="0">
              <a:lnSpc>
                <a:spcPts val="1062"/>
              </a:lnSpc>
              <a:buNone/>
            </a:pPr>
            <a:r>
              <a:rPr lang="en-US" sz="1303" b="1" dirty="0">
                <a:solidFill>
                  <a:srgbClr val="A7FFCC">
                    <a:alpha val="76000"/>
                  </a:srgbClr>
                </a:solidFill>
                <a:latin typeface="Open Sans Bold" pitchFamily="34" charset="0"/>
                <a:ea typeface="Open Sans Bold" pitchFamily="34" charset="-122"/>
                <a:cs typeface="Open Sans Bold" pitchFamily="34" charset="-120"/>
              </a:rPr>
              <a:t>01 · EXECUTION</a:t>
            </a:r>
            <a:endParaRPr lang="en-US" sz="1303" dirty="0"/>
          </a:p>
        </p:txBody>
      </p:sp>
      <p:sp>
        <p:nvSpPr>
          <p:cNvPr id="37" name="name_02  PROTOCOL"/>
          <p:cNvSpPr/>
          <p:nvPr/>
        </p:nvSpPr>
        <p:spPr>
          <a:xfrm>
            <a:off x="1219200" y="7635132"/>
            <a:ext cx="2152650" cy="142875"/>
          </a:xfrm>
          <a:prstGeom prst="rect">
            <a:avLst/>
          </a:prstGeom>
          <a:noFill/>
          <a:ln/>
        </p:spPr>
        <p:txBody>
          <a:bodyPr wrap="square" lIns="0" tIns="0" rIns="0" bIns="0" rtlCol="0" anchor="t"/>
          <a:lstStyle/>
          <a:p>
            <a:pPr algn="l" indent="0" marL="0">
              <a:lnSpc>
                <a:spcPts val="1062"/>
              </a:lnSpc>
              <a:buNone/>
            </a:pPr>
            <a:r>
              <a:rPr lang="en-US" sz="1303" b="1" dirty="0">
                <a:solidFill>
                  <a:srgbClr val="F7F096">
                    <a:alpha val="76000"/>
                  </a:srgbClr>
                </a:solidFill>
                <a:latin typeface="Open Sans Bold" pitchFamily="34" charset="0"/>
                <a:ea typeface="Open Sans Bold" pitchFamily="34" charset="-122"/>
                <a:cs typeface="Open Sans Bold" pitchFamily="34" charset="-120"/>
              </a:rPr>
              <a:t>02 · PROTOCOL</a:t>
            </a:r>
            <a:endParaRPr lang="en-US" sz="1303" dirty="0"/>
          </a:p>
        </p:txBody>
      </p:sp>
      <p:sp>
        <p:nvSpPr>
          <p:cNvPr id="38" name="name_03  WORKFLOW"/>
          <p:cNvSpPr/>
          <p:nvPr/>
        </p:nvSpPr>
        <p:spPr>
          <a:xfrm>
            <a:off x="1219200" y="7837366"/>
            <a:ext cx="2152650" cy="142875"/>
          </a:xfrm>
          <a:prstGeom prst="rect">
            <a:avLst/>
          </a:prstGeom>
          <a:noFill/>
          <a:ln/>
        </p:spPr>
        <p:txBody>
          <a:bodyPr wrap="square" lIns="0" tIns="0" rIns="0" bIns="0" rtlCol="0" anchor="t"/>
          <a:lstStyle/>
          <a:p>
            <a:pPr algn="l" indent="0" marL="0">
              <a:lnSpc>
                <a:spcPts val="1062"/>
              </a:lnSpc>
              <a:buNone/>
            </a:pPr>
            <a:r>
              <a:rPr lang="en-US" sz="1303" b="1" dirty="0">
                <a:solidFill>
                  <a:srgbClr val="F98CFF">
                    <a:alpha val="76000"/>
                  </a:srgbClr>
                </a:solidFill>
                <a:latin typeface="Open Sans Bold" pitchFamily="34" charset="0"/>
                <a:ea typeface="Open Sans Bold" pitchFamily="34" charset="-122"/>
                <a:cs typeface="Open Sans Bold" pitchFamily="34" charset="-120"/>
              </a:rPr>
              <a:t>03 · WORKFLOW</a:t>
            </a:r>
            <a:endParaRPr lang="en-US" sz="1303" dirty="0"/>
          </a:p>
        </p:txBody>
      </p:sp>
      <p:sp>
        <p:nvSpPr>
          <p:cNvPr id="39" name="name_04  INTELLIGENCE"/>
          <p:cNvSpPr/>
          <p:nvPr/>
        </p:nvSpPr>
        <p:spPr>
          <a:xfrm>
            <a:off x="1219200" y="8033471"/>
            <a:ext cx="2152650" cy="142875"/>
          </a:xfrm>
          <a:prstGeom prst="rect">
            <a:avLst/>
          </a:prstGeom>
          <a:noFill/>
          <a:ln/>
        </p:spPr>
        <p:txBody>
          <a:bodyPr wrap="square" lIns="0" tIns="0" rIns="0" bIns="0" rtlCol="0" anchor="t"/>
          <a:lstStyle/>
          <a:p>
            <a:pPr algn="l" indent="0" marL="0">
              <a:lnSpc>
                <a:spcPts val="1062"/>
              </a:lnSpc>
              <a:buNone/>
            </a:pPr>
            <a:r>
              <a:rPr lang="en-US" sz="1303" b="1" dirty="0">
                <a:solidFill>
                  <a:srgbClr val="66FFFF">
                    <a:alpha val="76000"/>
                  </a:srgbClr>
                </a:solidFill>
                <a:latin typeface="Open Sans Bold" pitchFamily="34" charset="0"/>
                <a:ea typeface="Open Sans Bold" pitchFamily="34" charset="-122"/>
                <a:cs typeface="Open Sans Bold" pitchFamily="34" charset="-120"/>
              </a:rPr>
              <a:t>04 · INTELLIGENCE</a:t>
            </a:r>
            <a:endParaRPr lang="en-US" sz="1303" dirty="0"/>
          </a:p>
        </p:txBody>
      </p:sp>
      <p:sp>
        <p:nvSpPr>
          <p:cNvPr id="40" name="name_1"/>
          <p:cNvSpPr/>
          <p:nvPr/>
        </p:nvSpPr>
        <p:spPr>
          <a:xfrm>
            <a:off x="7934325" y="4162425"/>
            <a:ext cx="133350" cy="123825"/>
          </a:xfrm>
          <a:prstGeom prst="rect">
            <a:avLst/>
          </a:prstGeom>
          <a:noFill/>
          <a:ln/>
        </p:spPr>
        <p:txBody>
          <a:bodyPr wrap="square" lIns="0" tIns="0" rIns="0" bIns="0" rtlCol="0" anchor="t"/>
          <a:lstStyle/>
          <a:p>
            <a:pPr algn="l" indent="0" marL="0">
              <a:lnSpc>
                <a:spcPts val="935"/>
              </a:lnSpc>
              <a:buNone/>
            </a:pPr>
            <a:r>
              <a:rPr lang="en-US" sz="1500" dirty="0">
                <a:solidFill>
                  <a:srgbClr val="57C45A"/>
                </a:solidFill>
                <a:latin typeface="Inter Semi Bold" pitchFamily="34" charset="0"/>
                <a:ea typeface="Inter Semi Bold" pitchFamily="34" charset="-122"/>
                <a:cs typeface="Inter Semi Bold" pitchFamily="34" charset="-120"/>
              </a:rPr>
              <a:t>1</a:t>
            </a:r>
            <a:endParaRPr lang="en-US" sz="1500" dirty="0"/>
          </a:p>
        </p:txBody>
      </p:sp>
      <p:sp>
        <p:nvSpPr>
          <p:cNvPr id="41" name="name_2"/>
          <p:cNvSpPr/>
          <p:nvPr/>
        </p:nvSpPr>
        <p:spPr>
          <a:xfrm>
            <a:off x="7934325" y="5305425"/>
            <a:ext cx="133350" cy="123825"/>
          </a:xfrm>
          <a:prstGeom prst="rect">
            <a:avLst/>
          </a:prstGeom>
          <a:noFill/>
          <a:ln/>
        </p:spPr>
        <p:txBody>
          <a:bodyPr wrap="square" lIns="0" tIns="0" rIns="0" bIns="0" rtlCol="0" anchor="t"/>
          <a:lstStyle/>
          <a:p>
            <a:pPr algn="l" indent="0" marL="0">
              <a:lnSpc>
                <a:spcPts val="935"/>
              </a:lnSpc>
              <a:buNone/>
            </a:pPr>
            <a:r>
              <a:rPr lang="en-US" sz="1500" dirty="0">
                <a:solidFill>
                  <a:srgbClr val="57C45A"/>
                </a:solidFill>
                <a:latin typeface="Inter Semi Bold" pitchFamily="34" charset="0"/>
                <a:ea typeface="Inter Semi Bold" pitchFamily="34" charset="-122"/>
                <a:cs typeface="Inter Semi Bold" pitchFamily="34" charset="-120"/>
              </a:rPr>
              <a:t>2</a:t>
            </a:r>
            <a:endParaRPr lang="en-US" sz="1500" dirty="0"/>
          </a:p>
        </p:txBody>
      </p:sp>
      <p:sp>
        <p:nvSpPr>
          <p:cNvPr id="42" name="name_3"/>
          <p:cNvSpPr/>
          <p:nvPr/>
        </p:nvSpPr>
        <p:spPr>
          <a:xfrm>
            <a:off x="7934325" y="6257925"/>
            <a:ext cx="133350" cy="123825"/>
          </a:xfrm>
          <a:prstGeom prst="rect">
            <a:avLst/>
          </a:prstGeom>
          <a:noFill/>
          <a:ln/>
        </p:spPr>
        <p:txBody>
          <a:bodyPr wrap="square" lIns="0" tIns="0" rIns="0" bIns="0" rtlCol="0" anchor="t"/>
          <a:lstStyle/>
          <a:p>
            <a:pPr algn="l" indent="0" marL="0">
              <a:lnSpc>
                <a:spcPts val="935"/>
              </a:lnSpc>
              <a:buNone/>
            </a:pPr>
            <a:r>
              <a:rPr lang="en-US" sz="1500" dirty="0">
                <a:solidFill>
                  <a:srgbClr val="57C45A"/>
                </a:solidFill>
                <a:latin typeface="Inter Semi Bold" pitchFamily="34" charset="0"/>
                <a:ea typeface="Inter Semi Bold" pitchFamily="34" charset="-122"/>
                <a:cs typeface="Inter Semi Bold" pitchFamily="34" charset="-120"/>
              </a:rPr>
              <a:t>3</a:t>
            </a:r>
            <a:endParaRPr lang="en-US" sz="1500" dirty="0"/>
          </a:p>
        </p:txBody>
      </p:sp>
      <p:sp>
        <p:nvSpPr>
          <p:cNvPr id="43" name="Interaction creates data Intelligence creates value"/>
          <p:cNvSpPr/>
          <p:nvPr/>
        </p:nvSpPr>
        <p:spPr>
          <a:xfrm>
            <a:off x="12563475" y="7153275"/>
            <a:ext cx="6172200" cy="876300"/>
          </a:xfrm>
          <a:prstGeom prst="rect">
            <a:avLst/>
          </a:prstGeom>
          <a:noFill/>
          <a:ln/>
        </p:spPr>
        <p:txBody>
          <a:bodyPr wrap="square" lIns="0" tIns="0" rIns="0" bIns="0" rtlCol="0" anchor="t"/>
          <a:lstStyle/>
          <a:p>
            <a:pPr algn="ctr" indent="0" marL="0">
              <a:buNone/>
            </a:pPr>
            <a:r>
              <a:rPr lang="en-US" sz="2850" dirty="0">
                <a:solidFill>
                  <a:srgbClr val="FFD755"/>
                </a:solidFill>
                <a:latin typeface="Inter Regular" pitchFamily="34" charset="0"/>
                <a:ea typeface="Inter Regular" pitchFamily="34" charset="-122"/>
                <a:cs typeface="Inter Regular" pitchFamily="34" charset="-120"/>
              </a:rPr>
              <a:t>Interaction creates data. </a:t>
            </a:r>
            <a:pPr algn="ctr" indent="0" marL="0">
              <a:buNone/>
            </a:pPr>
            <a:endParaRPr lang="en-US" sz="2850" dirty="0"/>
          </a:p>
          <a:p>
            <a:pPr algn="ctr" indent="0" marL="0">
              <a:buNone/>
            </a:pPr>
            <a:r>
              <a:rPr lang="en-US" sz="2850" b="1" dirty="0">
                <a:solidFill>
                  <a:srgbClr val="FFD755"/>
                </a:solidFill>
                <a:latin typeface="Inter Bold" pitchFamily="34" charset="0"/>
                <a:ea typeface="Inter Bold" pitchFamily="34" charset="-122"/>
                <a:cs typeface="Inter Bold" pitchFamily="34" charset="-120"/>
              </a:rPr>
              <a:t>Intelligence</a:t>
            </a:r>
            <a:pPr algn="ctr" indent="0" marL="0">
              <a:buNone/>
            </a:pPr>
            <a:r>
              <a:rPr lang="en-US" sz="2850" dirty="0">
                <a:solidFill>
                  <a:srgbClr val="FFD755"/>
                </a:solidFill>
                <a:latin typeface="Inter Regular" pitchFamily="34" charset="0"/>
                <a:ea typeface="Inter Regular" pitchFamily="34" charset="-122"/>
                <a:cs typeface="Inter Regular" pitchFamily="34" charset="-120"/>
              </a:rPr>
              <a:t> creates value.</a:t>
            </a:r>
            <a:endParaRPr lang="en-US" sz="2850" dirty="0"/>
          </a:p>
        </p:txBody>
      </p:sp>
      <p:sp>
        <p:nvSpPr>
          <p:cNvPr id="44" name="SEPTEMBER 2026"/>
          <p:cNvSpPr/>
          <p:nvPr/>
        </p:nvSpPr>
        <p:spPr>
          <a:xfrm>
            <a:off x="15678150" y="964882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000000"/>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45" name="Text 2"/>
          <p:cNvSpPr/>
          <p:nvPr/>
        </p:nvSpPr>
        <p:spPr>
          <a:xfrm>
            <a:off x="752475" y="962977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FFFFFF"/>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6" descr="preencoded.png">    </p:cNvPr>
          <p:cNvPicPr>
            <a:picLocks noChangeAspect="1"/>
          </p:cNvPicPr>
          <p:nvPr/>
        </p:nvPicPr>
        <p:blipFill>
          <a:blip r:embed="rId1"/>
          <a:srcRect l="0" r="0" t="0" b="0"/>
          <a:stretch/>
        </p:blipFill>
        <p:spPr>
          <a:xfrm>
            <a:off x="0" y="0"/>
            <a:ext cx="18288000" cy="10287000"/>
          </a:xfrm>
          <a:prstGeom prst="rect">
            <a:avLst/>
          </a:prstGeom>
        </p:spPr>
      </p:pic>
      <p:sp>
        <p:nvSpPr>
          <p:cNvPr id="4" name="PPTX slide background"/>
          <p:cNvSpPr/>
          <p:nvPr/>
        </p:nvSpPr>
        <p:spPr>
          <a:xfrm>
            <a:off x="0" y="0"/>
            <a:ext cx="18288000" cy="10287000"/>
          </a:xfrm>
          <a:prstGeom prst="rect">
            <a:avLst/>
          </a:prstGeom>
          <a:solidFill>
            <a:srgbClr val="FFFFFF"/>
          </a:solidFill>
          <a:ln/>
        </p:spPr>
      </p:sp>
      <p:pic>
        <p:nvPicPr>
          <p:cNvPr id="5" name="image-8-1.jpg" descr="preencoded.png">    </p:cNvPr>
          <p:cNvPicPr>
            <a:picLocks noChangeAspect="1"/>
          </p:cNvPicPr>
          <p:nvPr/>
        </p:nvPicPr>
        <p:blipFill>
          <a:blip r:embed="rId2"/>
          <a:srcRect l="0" r="0" t="0" b="0"/>
          <a:stretch/>
        </p:blipFill>
        <p:spPr>
          <a:xfrm>
            <a:off x="0" y="0"/>
            <a:ext cx="18288000" cy="10287000"/>
          </a:xfrm>
          <a:prstGeom prst="rect">
            <a:avLst/>
          </a:prstGeom>
        </p:spPr>
      </p:pic>
      <p:pic>
        <p:nvPicPr>
          <p:cNvPr id="6" name="image-8-2.png" descr="preencoded.png">    </p:cNvPr>
          <p:cNvPicPr>
            <a:picLocks noChangeAspect="1"/>
          </p:cNvPicPr>
          <p:nvPr/>
        </p:nvPicPr>
        <p:blipFill>
          <a:blip r:embed="rId3"/>
          <a:srcRect l="0" r="0" t="0" b="0"/>
          <a:stretch/>
        </p:blipFill>
        <p:spPr>
          <a:xfrm>
            <a:off x="16024408" y="520957"/>
            <a:ext cx="1438343" cy="390776"/>
          </a:xfrm>
          <a:prstGeom prst="rect">
            <a:avLst/>
          </a:prstGeom>
        </p:spPr>
      </p:pic>
      <p:pic>
        <p:nvPicPr>
          <p:cNvPr id="7" name="Shape 4" descr="preencoded.png">    </p:cNvPr>
          <p:cNvPicPr>
            <a:picLocks noChangeAspect="1"/>
          </p:cNvPicPr>
          <p:nvPr/>
        </p:nvPicPr>
        <p:blipFill>
          <a:blip r:embed="rId4"/>
          <a:srcRect l="0" r="0" t="0" b="0"/>
          <a:stretch/>
        </p:blipFill>
        <p:spPr>
          <a:xfrm>
            <a:off x="590578" y="3465855"/>
            <a:ext cx="7734542" cy="2134820"/>
          </a:xfrm>
          <a:prstGeom prst="rect">
            <a:avLst/>
          </a:prstGeom>
        </p:spPr>
      </p:pic>
      <p:pic>
        <p:nvPicPr>
          <p:cNvPr id="8" name="Shape 5"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990600" y="4022454"/>
            <a:ext cx="819293" cy="819293"/>
          </a:xfrm>
          <a:prstGeom prst="rect">
            <a:avLst/>
          </a:prstGeom>
        </p:spPr>
      </p:pic>
      <p:pic>
        <p:nvPicPr>
          <p:cNvPr id="9" name="image-8-3.png" descr="preencoded.png">    </p:cNvPr>
          <p:cNvPicPr>
            <a:picLocks noChangeAspect="1"/>
          </p:cNvPicPr>
          <p:nvPr/>
        </p:nvPicPr>
        <p:blipFill>
          <a:blip r:embed="rId7"/>
          <a:srcRect l="0" r="0" t="0" b="0"/>
          <a:stretch/>
        </p:blipFill>
        <p:spPr>
          <a:xfrm>
            <a:off x="1182616" y="4214545"/>
            <a:ext cx="438226" cy="438227"/>
          </a:xfrm>
          <a:prstGeom prst="rect">
            <a:avLst/>
          </a:prstGeom>
        </p:spPr>
      </p:pic>
      <p:pic>
        <p:nvPicPr>
          <p:cNvPr id="10" name="Shape 9" descr="preencoded.png">    </p:cNvPr>
          <p:cNvPicPr>
            <a:picLocks noChangeAspect="1"/>
          </p:cNvPicPr>
          <p:nvPr/>
        </p:nvPicPr>
        <p:blipFill>
          <a:blip r:embed="rId8"/>
          <a:srcRect l="0" r="0" t="0" b="0"/>
          <a:stretch/>
        </p:blipFill>
        <p:spPr>
          <a:xfrm>
            <a:off x="590578" y="5685180"/>
            <a:ext cx="7734551" cy="2211021"/>
          </a:xfrm>
          <a:prstGeom prst="rect">
            <a:avLst/>
          </a:prstGeom>
        </p:spPr>
      </p:pic>
      <p:pic>
        <p:nvPicPr>
          <p:cNvPr id="11" name="Shape 10" descr="preencoded.png">    </p:cNvPr>
          <p:cNvPicPr>
            <a:picLocks noChangeAspect="1"/>
          </p:cNvPicPr>
          <p:nvPr/>
        </p:nvPicPr>
        <p:blipFill>
          <a:blip r:embed="rId9">
            <a:extLst>
              <a:ext uri="{96DAC541-7B7A-43D3-8B79-37D633B846F1}">
                <asvg:svgBlip xmlns:asvg="http://schemas.microsoft.com/office/drawing/2016/SVG/main" r:embed="rId10"/>
              </a:ext>
            </a:extLst>
          </a:blip>
          <a:srcRect l="0" r="0" t="0" b="0"/>
          <a:stretch/>
        </p:blipFill>
        <p:spPr>
          <a:xfrm>
            <a:off x="990600" y="6244447"/>
            <a:ext cx="819293" cy="819293"/>
          </a:xfrm>
          <a:prstGeom prst="rect">
            <a:avLst/>
          </a:prstGeom>
        </p:spPr>
      </p:pic>
      <p:pic>
        <p:nvPicPr>
          <p:cNvPr id="12" name="image-8-4.png" descr="preencoded.png">    </p:cNvPr>
          <p:cNvPicPr>
            <a:picLocks noChangeAspect="1"/>
          </p:cNvPicPr>
          <p:nvPr/>
        </p:nvPicPr>
        <p:blipFill>
          <a:blip r:embed="rId11"/>
          <a:srcRect l="0" r="0" t="0" b="0"/>
          <a:stretch/>
        </p:blipFill>
        <p:spPr>
          <a:xfrm>
            <a:off x="1182616" y="6436537"/>
            <a:ext cx="438226" cy="438227"/>
          </a:xfrm>
          <a:prstGeom prst="rect">
            <a:avLst/>
          </a:prstGeom>
        </p:spPr>
      </p:pic>
      <p:pic>
        <p:nvPicPr>
          <p:cNvPr id="13" name="image-8-6.png" descr="preencoded.png">    </p:cNvPr>
          <p:cNvPicPr>
            <a:picLocks noChangeAspect="1"/>
          </p:cNvPicPr>
          <p:nvPr/>
        </p:nvPicPr>
        <p:blipFill>
          <a:blip r:embed="rId12"/>
          <a:srcRect l="0" r="0" t="0" b="0"/>
          <a:stretch/>
        </p:blipFill>
        <p:spPr>
          <a:xfrm>
            <a:off x="10767054" y="3016563"/>
            <a:ext cx="5487358" cy="5487357"/>
          </a:xfrm>
          <a:prstGeom prst="rect">
            <a:avLst/>
          </a:prstGeom>
        </p:spPr>
      </p:pic>
      <p:pic>
        <p:nvPicPr>
          <p:cNvPr id="14" name="image-8-6.png" descr="preencoded.png">    </p:cNvPr>
          <p:cNvPicPr>
            <a:picLocks noChangeAspect="1"/>
          </p:cNvPicPr>
          <p:nvPr/>
        </p:nvPicPr>
        <p:blipFill>
          <a:blip r:embed="rId13"/>
          <a:srcRect l="0" r="0" t="0" b="0"/>
          <a:stretch/>
        </p:blipFill>
        <p:spPr>
          <a:xfrm>
            <a:off x="10382250" y="2637334"/>
            <a:ext cx="6249491" cy="6249491"/>
          </a:xfrm>
          <a:prstGeom prst="rect">
            <a:avLst/>
          </a:prstGeom>
        </p:spPr>
      </p:pic>
      <p:pic>
        <p:nvPicPr>
          <p:cNvPr id="15" name="image-8-6.png" descr="preencoded.png">    </p:cNvPr>
          <p:cNvPicPr>
            <a:picLocks noChangeAspect="1"/>
          </p:cNvPicPr>
          <p:nvPr/>
        </p:nvPicPr>
        <p:blipFill>
          <a:blip r:embed="rId14"/>
          <a:srcRect l="0" r="0" t="0" b="0"/>
          <a:stretch/>
        </p:blipFill>
        <p:spPr>
          <a:xfrm>
            <a:off x="11096625" y="3351957"/>
            <a:ext cx="4830021" cy="4830018"/>
          </a:xfrm>
          <a:prstGeom prst="rect">
            <a:avLst/>
          </a:prstGeom>
        </p:spPr>
      </p:pic>
      <p:pic>
        <p:nvPicPr>
          <p:cNvPr id="16" name="image-8-6.png" descr="preencoded.png">    </p:cNvPr>
          <p:cNvPicPr>
            <a:picLocks noChangeAspect="1"/>
          </p:cNvPicPr>
          <p:nvPr/>
        </p:nvPicPr>
        <p:blipFill>
          <a:blip r:embed="rId15"/>
          <a:srcRect l="0" r="0" t="0" b="0"/>
          <a:stretch/>
        </p:blipFill>
        <p:spPr>
          <a:xfrm>
            <a:off x="11420475" y="3637823"/>
            <a:ext cx="4163151" cy="4163152"/>
          </a:xfrm>
          <a:prstGeom prst="rect">
            <a:avLst/>
          </a:prstGeom>
        </p:spPr>
      </p:pic>
      <p:pic>
        <p:nvPicPr>
          <p:cNvPr id="17" name="image-8-6.png" descr="preencoded.png">    </p:cNvPr>
          <p:cNvPicPr>
            <a:picLocks noChangeAspect="1"/>
          </p:cNvPicPr>
          <p:nvPr/>
        </p:nvPicPr>
        <p:blipFill>
          <a:blip r:embed="rId16"/>
          <a:srcRect l="0" r="0" t="0" b="0"/>
          <a:stretch/>
        </p:blipFill>
        <p:spPr>
          <a:xfrm>
            <a:off x="11725275" y="3942730"/>
            <a:ext cx="3553448" cy="3553445"/>
          </a:xfrm>
          <a:prstGeom prst="rect">
            <a:avLst/>
          </a:prstGeom>
        </p:spPr>
      </p:pic>
      <p:pic>
        <p:nvPicPr>
          <p:cNvPr id="18" name="image-8-6.png" descr="preencoded.png">    </p:cNvPr>
          <p:cNvPicPr>
            <a:picLocks noChangeAspect="1"/>
          </p:cNvPicPr>
          <p:nvPr/>
        </p:nvPicPr>
        <p:blipFill>
          <a:blip r:embed="rId17"/>
          <a:srcRect l="0" r="0" t="0" b="0"/>
          <a:stretch/>
        </p:blipFill>
        <p:spPr>
          <a:xfrm>
            <a:off x="12115800" y="4352440"/>
            <a:ext cx="2781785" cy="2781785"/>
          </a:xfrm>
          <a:prstGeom prst="rect">
            <a:avLst/>
          </a:prstGeom>
        </p:spPr>
      </p:pic>
      <p:pic>
        <p:nvPicPr>
          <p:cNvPr id="19" name="image-8-6.png" descr="preencoded.png">    </p:cNvPr>
          <p:cNvPicPr>
            <a:picLocks noChangeAspect="1"/>
          </p:cNvPicPr>
          <p:nvPr/>
        </p:nvPicPr>
        <p:blipFill>
          <a:blip r:embed="rId18"/>
          <a:srcRect l="0" r="0" t="0" b="0"/>
          <a:stretch/>
        </p:blipFill>
        <p:spPr>
          <a:xfrm>
            <a:off x="12430125" y="4685926"/>
            <a:ext cx="2143499" cy="2143499"/>
          </a:xfrm>
          <a:prstGeom prst="rect">
            <a:avLst/>
          </a:prstGeom>
        </p:spPr>
      </p:pic>
      <p:pic>
        <p:nvPicPr>
          <p:cNvPr id="20" name="image-8-6.png" descr="preencoded.png">    </p:cNvPr>
          <p:cNvPicPr>
            <a:picLocks noChangeAspect="1"/>
          </p:cNvPicPr>
          <p:nvPr/>
        </p:nvPicPr>
        <p:blipFill>
          <a:blip r:embed="rId19"/>
          <a:srcRect l="0" r="0" t="0" b="0"/>
          <a:stretch/>
        </p:blipFill>
        <p:spPr>
          <a:xfrm>
            <a:off x="12792075" y="5095627"/>
            <a:ext cx="1419476" cy="1419473"/>
          </a:xfrm>
          <a:prstGeom prst="rect">
            <a:avLst/>
          </a:prstGeom>
        </p:spPr>
      </p:pic>
      <p:pic>
        <p:nvPicPr>
          <p:cNvPr id="21" name="Google Shape;1050;p33" descr="preencoded.png">    </p:cNvPr>
          <p:cNvPicPr>
            <a:picLocks noChangeAspect="1"/>
          </p:cNvPicPr>
          <p:nvPr/>
        </p:nvPicPr>
        <p:blipFill>
          <a:blip r:embed="rId20"/>
          <a:srcRect l="0" r="0" t="0" b="0"/>
          <a:stretch/>
        </p:blipFill>
        <p:spPr>
          <a:xfrm>
            <a:off x="8782059" y="5314447"/>
            <a:ext cx="3181424" cy="676749"/>
          </a:xfrm>
          <a:prstGeom prst="rect">
            <a:avLst/>
          </a:prstGeom>
        </p:spPr>
      </p:pic>
      <p:pic>
        <p:nvPicPr>
          <p:cNvPr id="22" name="Google Shape;1050;p33" descr="preencoded.png">    </p:cNvPr>
          <p:cNvPicPr>
            <a:picLocks noChangeAspect="1"/>
          </p:cNvPicPr>
          <p:nvPr/>
        </p:nvPicPr>
        <p:blipFill>
          <a:blip r:embed="rId21"/>
          <a:srcRect l="0" r="0" t="0" b="0"/>
          <a:stretch/>
        </p:blipFill>
        <p:spPr>
          <a:xfrm>
            <a:off x="15382884" y="5314583"/>
            <a:ext cx="2362274" cy="676621"/>
          </a:xfrm>
          <a:prstGeom prst="rect">
            <a:avLst/>
          </a:prstGeom>
        </p:spPr>
      </p:pic>
      <p:pic>
        <p:nvPicPr>
          <p:cNvPr id="23" name="Google Shape;1050;p33" descr="preencoded.png">    </p:cNvPr>
          <p:cNvPicPr>
            <a:picLocks noChangeAspect="1"/>
          </p:cNvPicPr>
          <p:nvPr/>
        </p:nvPicPr>
        <p:blipFill>
          <a:blip r:embed="rId22"/>
          <a:srcRect l="0" r="0" t="0" b="0"/>
          <a:stretch/>
        </p:blipFill>
        <p:spPr>
          <a:xfrm>
            <a:off x="12096759" y="2723683"/>
            <a:ext cx="2962349" cy="676715"/>
          </a:xfrm>
          <a:prstGeom prst="rect">
            <a:avLst/>
          </a:prstGeom>
        </p:spPr>
      </p:pic>
      <p:pic>
        <p:nvPicPr>
          <p:cNvPr id="24" name="Google Shape;1050;p33" descr="preencoded.png">    </p:cNvPr>
          <p:cNvPicPr>
            <a:picLocks noChangeAspect="1"/>
          </p:cNvPicPr>
          <p:nvPr/>
        </p:nvPicPr>
        <p:blipFill>
          <a:blip r:embed="rId23"/>
          <a:srcRect l="0" r="0" t="0" b="0"/>
          <a:stretch/>
        </p:blipFill>
        <p:spPr>
          <a:xfrm>
            <a:off x="12515859" y="8210247"/>
            <a:ext cx="1971749" cy="676561"/>
          </a:xfrm>
          <a:prstGeom prst="rect">
            <a:avLst/>
          </a:prstGeom>
        </p:spPr>
      </p:pic>
      <p:sp>
        <p:nvSpPr>
          <p:cNvPr id="25" name="Text 0"/>
          <p:cNvSpPr/>
          <p:nvPr/>
        </p:nvSpPr>
        <p:spPr>
          <a:xfrm>
            <a:off x="822954" y="647510"/>
            <a:ext cx="8439150" cy="276225"/>
          </a:xfrm>
          <a:prstGeom prst="rect">
            <a:avLst/>
          </a:prstGeom>
          <a:noFill/>
          <a:ln/>
        </p:spPr>
        <p:txBody>
          <a:bodyPr wrap="square" lIns="0" tIns="0" rIns="0" bIns="0" rtlCol="0" anchor="ctr"/>
          <a:lstStyle/>
          <a:p>
            <a:pPr algn="l" indent="0" marL="0">
              <a:lnSpc>
                <a:spcPts val="2175"/>
              </a:lnSpc>
              <a:buNone/>
            </a:pPr>
            <a:r>
              <a:rPr lang="en-US" sz="1650" dirty="0">
                <a:solidFill>
                  <a:srgbClr val="187A5E"/>
                </a:solidFill>
                <a:latin typeface="IBM Plex Mono Regular" pitchFamily="34" charset="0"/>
                <a:ea typeface="IBM Plex Mono Regular" pitchFamily="34" charset="-122"/>
                <a:cs typeface="IBM Plex Mono Regular" pitchFamily="34" charset="-120"/>
              </a:rPr>
              <a:t>BUSINESS MODEL</a:t>
            </a:r>
            <a:endParaRPr lang="en-US" sz="1650" dirty="0"/>
          </a:p>
        </p:txBody>
      </p:sp>
      <p:sp>
        <p:nvSpPr>
          <p:cNvPr id="26" name="Text 6"/>
          <p:cNvSpPr/>
          <p:nvPr/>
        </p:nvSpPr>
        <p:spPr>
          <a:xfrm>
            <a:off x="1981200" y="4012882"/>
            <a:ext cx="6543675" cy="342900"/>
          </a:xfrm>
          <a:prstGeom prst="rect">
            <a:avLst/>
          </a:prstGeom>
          <a:noFill/>
          <a:ln/>
        </p:spPr>
        <p:txBody>
          <a:bodyPr wrap="square" lIns="0" tIns="0" rIns="0" bIns="0" rtlCol="0" anchor="ctr"/>
          <a:lstStyle/>
          <a:p>
            <a:pPr algn="l" indent="0" marL="0">
              <a:lnSpc>
                <a:spcPts val="2700"/>
              </a:lnSpc>
              <a:buNone/>
            </a:pPr>
            <a:r>
              <a:rPr lang="en-US" sz="2250" b="1" dirty="0">
                <a:solidFill>
                  <a:srgbClr val="074B4E"/>
                </a:solidFill>
                <a:latin typeface="Inter Bold" pitchFamily="34" charset="0"/>
                <a:ea typeface="Inter Bold" pitchFamily="34" charset="-122"/>
                <a:cs typeface="Inter Bold" pitchFamily="34" charset="-120"/>
              </a:rPr>
              <a:t>Exchange fees</a:t>
            </a:r>
            <a:endParaRPr lang="en-US" sz="2250" dirty="0"/>
          </a:p>
        </p:txBody>
      </p:sp>
      <p:sp>
        <p:nvSpPr>
          <p:cNvPr id="27" name="Text 7"/>
          <p:cNvSpPr/>
          <p:nvPr/>
        </p:nvSpPr>
        <p:spPr>
          <a:xfrm>
            <a:off x="1981200" y="4461510"/>
            <a:ext cx="6534150" cy="276225"/>
          </a:xfrm>
          <a:prstGeom prst="rect">
            <a:avLst/>
          </a:prstGeom>
          <a:noFill/>
          <a:ln/>
        </p:spPr>
        <p:txBody>
          <a:bodyPr wrap="square" lIns="0" tIns="0" rIns="0" bIns="0" rtlCol="0" anchor="t"/>
          <a:lstStyle/>
          <a:p>
            <a:pPr algn="l" indent="0" marL="0">
              <a:lnSpc>
                <a:spcPts val="2175"/>
              </a:lnSpc>
              <a:buNone/>
            </a:pPr>
            <a:r>
              <a:rPr lang="en-US" sz="1800" dirty="0">
                <a:solidFill>
                  <a:srgbClr val="33433E"/>
                </a:solidFill>
                <a:latin typeface="Inter Regular" pitchFamily="34" charset="0"/>
                <a:ea typeface="Inter Regular" pitchFamily="34" charset="-122"/>
                <a:cs typeface="Inter Regular" pitchFamily="34" charset="-120"/>
              </a:rPr>
              <a:t>Transaction fees on every trade executed on OMeT-X.</a:t>
            </a:r>
            <a:endParaRPr lang="en-US" sz="1800" dirty="0"/>
          </a:p>
        </p:txBody>
      </p:sp>
      <p:sp>
        <p:nvSpPr>
          <p:cNvPr id="28" name="Text 11"/>
          <p:cNvSpPr/>
          <p:nvPr/>
        </p:nvSpPr>
        <p:spPr>
          <a:xfrm>
            <a:off x="1981200" y="6234874"/>
            <a:ext cx="6543675" cy="342900"/>
          </a:xfrm>
          <a:prstGeom prst="rect">
            <a:avLst/>
          </a:prstGeom>
          <a:noFill/>
          <a:ln/>
        </p:spPr>
        <p:txBody>
          <a:bodyPr wrap="square" lIns="0" tIns="0" rIns="0" bIns="0" rtlCol="0" anchor="ctr"/>
          <a:lstStyle/>
          <a:p>
            <a:pPr algn="l" indent="0" marL="0">
              <a:lnSpc>
                <a:spcPts val="2700"/>
              </a:lnSpc>
              <a:buNone/>
            </a:pPr>
            <a:r>
              <a:rPr lang="en-US" sz="2250" b="1" dirty="0">
                <a:solidFill>
                  <a:srgbClr val="074B4E"/>
                </a:solidFill>
                <a:latin typeface="Inter Bold" pitchFamily="34" charset="0"/>
                <a:ea typeface="Inter Bold" pitchFamily="34" charset="-122"/>
                <a:cs typeface="Inter Bold" pitchFamily="34" charset="-120"/>
              </a:rPr>
              <a:t>Data and intelligence</a:t>
            </a:r>
            <a:endParaRPr lang="en-US" sz="2250" dirty="0"/>
          </a:p>
        </p:txBody>
      </p:sp>
      <p:sp>
        <p:nvSpPr>
          <p:cNvPr id="29" name="Text 12"/>
          <p:cNvSpPr/>
          <p:nvPr/>
        </p:nvSpPr>
        <p:spPr>
          <a:xfrm>
            <a:off x="1981200" y="6683501"/>
            <a:ext cx="6534150" cy="552450"/>
          </a:xfrm>
          <a:prstGeom prst="rect">
            <a:avLst/>
          </a:prstGeom>
          <a:noFill/>
          <a:ln/>
        </p:spPr>
        <p:txBody>
          <a:bodyPr wrap="square" lIns="0" tIns="0" rIns="0" bIns="0" rtlCol="0" anchor="t"/>
          <a:lstStyle/>
          <a:p>
            <a:pPr algn="l" indent="0" marL="0">
              <a:lnSpc>
                <a:spcPts val="2175"/>
              </a:lnSpc>
              <a:buNone/>
            </a:pPr>
            <a:r>
              <a:rPr lang="en-US" sz="1800" dirty="0">
                <a:solidFill>
                  <a:srgbClr val="33433E"/>
                </a:solidFill>
                <a:latin typeface="Inter Regular" pitchFamily="34" charset="0"/>
                <a:ea typeface="Inter Regular" pitchFamily="34" charset="-122"/>
                <a:cs typeface="Inter Regular" pitchFamily="34" charset="-120"/>
              </a:rPr>
              <a:t>OMeT-i subscriptions: analytics, insights, and decision support built on venue data.</a:t>
            </a:r>
            <a:endParaRPr lang="en-US" sz="1800" dirty="0"/>
          </a:p>
        </p:txBody>
      </p:sp>
      <p:sp>
        <p:nvSpPr>
          <p:cNvPr id="30" name="Text 18"/>
          <p:cNvSpPr/>
          <p:nvPr/>
        </p:nvSpPr>
        <p:spPr>
          <a:xfrm>
            <a:off x="12134850" y="5486400"/>
            <a:ext cx="2838450" cy="323850"/>
          </a:xfrm>
          <a:prstGeom prst="rect">
            <a:avLst/>
          </a:prstGeom>
          <a:noFill/>
          <a:ln/>
        </p:spPr>
        <p:txBody>
          <a:bodyPr wrap="square" lIns="0" tIns="0" rIns="0" bIns="0" rtlCol="0" anchor="ctr"/>
          <a:lstStyle/>
          <a:p>
            <a:pPr algn="ctr" indent="0" marL="0">
              <a:lnSpc>
                <a:spcPts val="2550"/>
              </a:lnSpc>
              <a:buNone/>
            </a:pPr>
            <a:r>
              <a:rPr lang="en-US" sz="1950" dirty="0">
                <a:solidFill>
                  <a:srgbClr val="187A5E"/>
                </a:solidFill>
                <a:latin typeface="IBM Plex Mono Regular" pitchFamily="34" charset="0"/>
                <a:ea typeface="IBM Plex Mono Regular" pitchFamily="34" charset="-122"/>
                <a:cs typeface="IBM Plex Mono Regular" pitchFamily="34" charset="-120"/>
              </a:rPr>
              <a:t>THE </a:t>
            </a:r>
            <a:pPr algn="ctr" indent="0" marL="0">
              <a:lnSpc>
                <a:spcPts val="2550"/>
              </a:lnSpc>
              <a:buNone/>
            </a:pPr>
            <a:r>
              <a:rPr lang="en-US" sz="1950" b="1" dirty="0">
                <a:solidFill>
                  <a:srgbClr val="187A5E"/>
                </a:solidFill>
                <a:latin typeface="IBM Plex Mono Bold" pitchFamily="34" charset="0"/>
                <a:ea typeface="IBM Plex Mono Bold" pitchFamily="34" charset="-122"/>
                <a:cs typeface="IBM Plex Mono Bold" pitchFamily="34" charset="-120"/>
              </a:rPr>
              <a:t>OMeT</a:t>
            </a:r>
            <a:pPr algn="ctr" indent="0" marL="0">
              <a:lnSpc>
                <a:spcPts val="2550"/>
              </a:lnSpc>
              <a:buNone/>
            </a:pPr>
            <a:r>
              <a:rPr lang="en-US" sz="1950" dirty="0">
                <a:solidFill>
                  <a:srgbClr val="187A5E"/>
                </a:solidFill>
                <a:latin typeface="IBM Plex Mono Regular" pitchFamily="34" charset="0"/>
                <a:ea typeface="IBM Plex Mono Regular" pitchFamily="34" charset="-122"/>
                <a:cs typeface="IBM Plex Mono Regular" pitchFamily="34" charset="-120"/>
              </a:rPr>
              <a:t> FLYWHEEL</a:t>
            </a:r>
            <a:endParaRPr lang="en-US" sz="1950" dirty="0"/>
          </a:p>
        </p:txBody>
      </p:sp>
      <p:sp>
        <p:nvSpPr>
          <p:cNvPr id="31" name="The model does not change as OMeT scales Participation and volume Do"/>
          <p:cNvSpPr/>
          <p:nvPr/>
        </p:nvSpPr>
        <p:spPr>
          <a:xfrm>
            <a:off x="742950" y="1085850"/>
            <a:ext cx="16640175" cy="1504950"/>
          </a:xfrm>
          <a:prstGeom prst="rect">
            <a:avLst/>
          </a:prstGeom>
          <a:noFill/>
          <a:ln/>
        </p:spPr>
        <p:txBody>
          <a:bodyPr wrap="square" lIns="0" tIns="0" rIns="0" bIns="0" rtlCol="0" anchor="t"/>
          <a:lstStyle/>
          <a:p>
            <a:pPr algn="l" indent="0" marL="0">
              <a:buNone/>
            </a:pPr>
            <a:r>
              <a:rPr lang="en-US" sz="4875" dirty="0">
                <a:solidFill>
                  <a:srgbClr val="FFD755"/>
                </a:solidFill>
                <a:latin typeface="Inter Regular" pitchFamily="34" charset="0"/>
                <a:ea typeface="Inter Regular" pitchFamily="34" charset="-122"/>
                <a:cs typeface="Inter Regular" pitchFamily="34" charset="-120"/>
              </a:rPr>
              <a:t>The model does not change as </a:t>
            </a:r>
            <a:pPr algn="l" indent="0" marL="0">
              <a:buNone/>
            </a:pPr>
            <a:r>
              <a:rPr lang="en-US" sz="4875" b="1" dirty="0">
                <a:solidFill>
                  <a:srgbClr val="FFD755"/>
                </a:solidFill>
                <a:latin typeface="Inter Bold" pitchFamily="34" charset="0"/>
                <a:ea typeface="Inter Bold" pitchFamily="34" charset="-122"/>
                <a:cs typeface="Inter Bold" pitchFamily="34" charset="-120"/>
              </a:rPr>
              <a:t>OMeT</a:t>
            </a:r>
            <a:pPr algn="l" indent="0" marL="0">
              <a:buNone/>
            </a:pPr>
            <a:r>
              <a:rPr lang="en-US" sz="4875" dirty="0">
                <a:solidFill>
                  <a:srgbClr val="FFD755"/>
                </a:solidFill>
                <a:latin typeface="Inter Regular" pitchFamily="34" charset="0"/>
                <a:ea typeface="Inter Regular" pitchFamily="34" charset="-122"/>
                <a:cs typeface="Inter Regular" pitchFamily="34" charset="-120"/>
              </a:rPr>
              <a:t> scales. </a:t>
            </a:r>
            <a:pPr algn="l" indent="0" marL="0">
              <a:buNone/>
            </a:pPr>
            <a:endParaRPr lang="en-US" sz="4875" dirty="0"/>
          </a:p>
          <a:p>
            <a:pPr algn="l" indent="0" marL="0">
              <a:buNone/>
            </a:pPr>
            <a:r>
              <a:rPr lang="en-US" sz="4875" b="1" dirty="0">
                <a:solidFill>
                  <a:srgbClr val="FFD755"/>
                </a:solidFill>
                <a:latin typeface="Inter Bold" pitchFamily="34" charset="0"/>
                <a:ea typeface="Inter Bold" pitchFamily="34" charset="-122"/>
                <a:cs typeface="Inter Bold" pitchFamily="34" charset="-120"/>
              </a:rPr>
              <a:t>Participation and volume Do. </a:t>
            </a:r>
            <a:endParaRPr lang="en-US" sz="4875" dirty="0"/>
          </a:p>
        </p:txBody>
      </p:sp>
      <p:sp>
        <p:nvSpPr>
          <p:cNvPr id="32" name="SEPTEMBER 2026"/>
          <p:cNvSpPr/>
          <p:nvPr/>
        </p:nvSpPr>
        <p:spPr>
          <a:xfrm>
            <a:off x="15678150" y="964882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54BABE"/>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33" name="Text 8"/>
          <p:cNvSpPr/>
          <p:nvPr/>
        </p:nvSpPr>
        <p:spPr>
          <a:xfrm>
            <a:off x="752475" y="962977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2E8B7A"/>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
        <p:nvSpPr>
          <p:cNvPr id="34" name="Google Shape1052p33"/>
          <p:cNvSpPr/>
          <p:nvPr/>
        </p:nvSpPr>
        <p:spPr>
          <a:xfrm>
            <a:off x="9001125" y="5505450"/>
            <a:ext cx="2924175" cy="219075"/>
          </a:xfrm>
          <a:prstGeom prst="rect">
            <a:avLst/>
          </a:prstGeom>
          <a:noFill/>
          <a:ln/>
        </p:spPr>
        <p:txBody>
          <a:bodyPr wrap="square" lIns="0" tIns="0" rIns="0" bIns="0" rtlCol="0" anchor="t"/>
          <a:lstStyle/>
          <a:p>
            <a:pPr algn="l" indent="0" marL="0">
              <a:lnSpc>
                <a:spcPct val="64084"/>
              </a:lnSpc>
              <a:buNone/>
            </a:pPr>
            <a:r>
              <a:rPr lang="en-US" sz="2250" b="1" dirty="0">
                <a:solidFill>
                  <a:srgbClr val="187A5E"/>
                </a:solidFill>
                <a:latin typeface="Open Sans Bold" pitchFamily="34" charset="0"/>
                <a:ea typeface="Open Sans Bold" pitchFamily="34" charset="-122"/>
                <a:cs typeface="Open Sans Bold" pitchFamily="34" charset="-120"/>
              </a:rPr>
              <a:t>Better Intelligence</a:t>
            </a:r>
            <a:endParaRPr lang="en-US" sz="2250" dirty="0"/>
          </a:p>
        </p:txBody>
      </p:sp>
      <p:sp>
        <p:nvSpPr>
          <p:cNvPr id="35" name="Google Shape1052p33"/>
          <p:cNvSpPr/>
          <p:nvPr/>
        </p:nvSpPr>
        <p:spPr>
          <a:xfrm>
            <a:off x="15601950" y="5505450"/>
            <a:ext cx="2105025" cy="219075"/>
          </a:xfrm>
          <a:prstGeom prst="rect">
            <a:avLst/>
          </a:prstGeom>
          <a:noFill/>
          <a:ln/>
        </p:spPr>
        <p:txBody>
          <a:bodyPr wrap="square" lIns="0" tIns="0" rIns="0" bIns="0" rtlCol="0" anchor="t"/>
          <a:lstStyle/>
          <a:p>
            <a:pPr algn="l" indent="0" marL="0">
              <a:lnSpc>
                <a:spcPct val="64084"/>
              </a:lnSpc>
              <a:buNone/>
            </a:pPr>
            <a:r>
              <a:rPr lang="en-US" sz="2250" b="1" dirty="0">
                <a:solidFill>
                  <a:srgbClr val="187A5E"/>
                </a:solidFill>
                <a:latin typeface="Open Sans Bold" pitchFamily="34" charset="0"/>
                <a:ea typeface="Open Sans Bold" pitchFamily="34" charset="-122"/>
                <a:cs typeface="Open Sans Bold" pitchFamily="34" charset="-120"/>
              </a:rPr>
              <a:t>More volume</a:t>
            </a:r>
            <a:endParaRPr lang="en-US" sz="2250" dirty="0"/>
          </a:p>
        </p:txBody>
      </p:sp>
      <p:sp>
        <p:nvSpPr>
          <p:cNvPr id="36" name="Google Shape1052p33"/>
          <p:cNvSpPr/>
          <p:nvPr/>
        </p:nvSpPr>
        <p:spPr>
          <a:xfrm>
            <a:off x="12315825" y="2914650"/>
            <a:ext cx="3162300" cy="219075"/>
          </a:xfrm>
          <a:prstGeom prst="rect">
            <a:avLst/>
          </a:prstGeom>
          <a:noFill/>
          <a:ln/>
        </p:spPr>
        <p:txBody>
          <a:bodyPr wrap="square" lIns="0" tIns="0" rIns="0" bIns="0" rtlCol="0" anchor="t"/>
          <a:lstStyle/>
          <a:p>
            <a:pPr algn="l" indent="0" marL="0">
              <a:lnSpc>
                <a:spcPct val="64084"/>
              </a:lnSpc>
              <a:buNone/>
            </a:pPr>
            <a:r>
              <a:rPr lang="en-US" sz="2250" b="1" dirty="0">
                <a:solidFill>
                  <a:srgbClr val="187A5E"/>
                </a:solidFill>
                <a:latin typeface="Open Sans Bold" pitchFamily="34" charset="0"/>
                <a:ea typeface="Open Sans Bold" pitchFamily="34" charset="-122"/>
                <a:cs typeface="Open Sans Bold" pitchFamily="34" charset="-120"/>
              </a:rPr>
              <a:t>More participants</a:t>
            </a:r>
            <a:endParaRPr lang="en-US" sz="2250" dirty="0"/>
          </a:p>
        </p:txBody>
      </p:sp>
      <p:sp>
        <p:nvSpPr>
          <p:cNvPr id="37" name="Google Shape1052p33"/>
          <p:cNvSpPr/>
          <p:nvPr/>
        </p:nvSpPr>
        <p:spPr>
          <a:xfrm>
            <a:off x="12734925" y="8401050"/>
            <a:ext cx="1714500" cy="219075"/>
          </a:xfrm>
          <a:prstGeom prst="rect">
            <a:avLst/>
          </a:prstGeom>
          <a:noFill/>
          <a:ln/>
        </p:spPr>
        <p:txBody>
          <a:bodyPr wrap="square" lIns="0" tIns="0" rIns="0" bIns="0" rtlCol="0" anchor="t"/>
          <a:lstStyle/>
          <a:p>
            <a:pPr algn="l" indent="0" marL="0">
              <a:lnSpc>
                <a:spcPct val="64084"/>
              </a:lnSpc>
              <a:buNone/>
            </a:pPr>
            <a:r>
              <a:rPr lang="en-US" sz="2250" b="1" dirty="0">
                <a:solidFill>
                  <a:srgbClr val="187A5E"/>
                </a:solidFill>
                <a:latin typeface="Open Sans Bold" pitchFamily="34" charset="0"/>
                <a:ea typeface="Open Sans Bold" pitchFamily="34" charset="-122"/>
                <a:cs typeface="Open Sans Bold" pitchFamily="34" charset="-120"/>
              </a:rPr>
              <a:t>More data</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7"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image 153" descr="preencoded.png">    </p:cNvPr>
          <p:cNvPicPr>
            <a:picLocks noChangeAspect="1"/>
          </p:cNvPicPr>
          <p:nvPr/>
        </p:nvPicPr>
        <p:blipFill>
          <a:blip r:embed="rId2"/>
          <a:srcRect l="0" r="0" t="0" b="0"/>
          <a:stretch/>
        </p:blipFill>
        <p:spPr>
          <a:xfrm>
            <a:off x="0" y="25381"/>
            <a:ext cx="18288000" cy="10261619"/>
          </a:xfrm>
          <a:prstGeom prst="rect">
            <a:avLst/>
          </a:prstGeom>
        </p:spPr>
      </p:pic>
      <p:pic>
        <p:nvPicPr>
          <p:cNvPr id="4" name="Shape with text" descr="preencoded.png">    </p:cNvPr>
          <p:cNvPicPr>
            <a:picLocks noChangeAspect="1"/>
          </p:cNvPicPr>
          <p:nvPr/>
        </p:nvPicPr>
        <p:blipFill>
          <a:blip r:embed="rId3"/>
          <a:srcRect l="0" r="0" t="0" b="0"/>
          <a:stretch/>
        </p:blipFill>
        <p:spPr>
          <a:xfrm>
            <a:off x="0" y="0"/>
            <a:ext cx="18288000" cy="10287000"/>
          </a:xfrm>
          <a:prstGeom prst="rect">
            <a:avLst/>
          </a:prstGeom>
        </p:spPr>
      </p:pic>
      <p:sp>
        <p:nvSpPr>
          <p:cNvPr id="5" name="Rectangle"/>
          <p:cNvSpPr/>
          <p:nvPr/>
        </p:nvSpPr>
        <p:spPr>
          <a:xfrm>
            <a:off x="438150" y="4933950"/>
            <a:ext cx="76200" cy="76200"/>
          </a:xfrm>
          <a:prstGeom prst="rect">
            <a:avLst/>
          </a:prstGeom>
          <a:solidFill>
            <a:srgbClr val="187A5E"/>
          </a:solidFill>
          <a:ln/>
        </p:spPr>
      </p:sp>
      <p:sp>
        <p:nvSpPr>
          <p:cNvPr id="6" name="Rectangle"/>
          <p:cNvSpPr/>
          <p:nvPr/>
        </p:nvSpPr>
        <p:spPr>
          <a:xfrm>
            <a:off x="438150" y="5657850"/>
            <a:ext cx="76200" cy="76200"/>
          </a:xfrm>
          <a:prstGeom prst="rect">
            <a:avLst/>
          </a:prstGeom>
          <a:solidFill>
            <a:srgbClr val="187A5E"/>
          </a:solidFill>
          <a:ln/>
        </p:spPr>
      </p:sp>
      <p:sp>
        <p:nvSpPr>
          <p:cNvPr id="7" name="Rectangle"/>
          <p:cNvSpPr/>
          <p:nvPr/>
        </p:nvSpPr>
        <p:spPr>
          <a:xfrm>
            <a:off x="438150" y="6134100"/>
            <a:ext cx="76200" cy="76200"/>
          </a:xfrm>
          <a:prstGeom prst="rect">
            <a:avLst/>
          </a:prstGeom>
          <a:solidFill>
            <a:srgbClr val="187A5E"/>
          </a:solidFill>
          <a:ln/>
        </p:spPr>
      </p:sp>
      <p:sp>
        <p:nvSpPr>
          <p:cNvPr id="8" name="Rectangle"/>
          <p:cNvSpPr/>
          <p:nvPr/>
        </p:nvSpPr>
        <p:spPr>
          <a:xfrm>
            <a:off x="4714875" y="4943475"/>
            <a:ext cx="76200" cy="76200"/>
          </a:xfrm>
          <a:prstGeom prst="rect">
            <a:avLst/>
          </a:prstGeom>
          <a:solidFill>
            <a:srgbClr val="187A5E"/>
          </a:solidFill>
          <a:ln/>
        </p:spPr>
      </p:sp>
      <p:sp>
        <p:nvSpPr>
          <p:cNvPr id="9" name="Rectangle"/>
          <p:cNvSpPr/>
          <p:nvPr/>
        </p:nvSpPr>
        <p:spPr>
          <a:xfrm>
            <a:off x="4714875" y="5410200"/>
            <a:ext cx="76200" cy="76200"/>
          </a:xfrm>
          <a:prstGeom prst="rect">
            <a:avLst/>
          </a:prstGeom>
          <a:solidFill>
            <a:srgbClr val="187A5E"/>
          </a:solidFill>
          <a:ln/>
        </p:spPr>
      </p:sp>
      <p:sp>
        <p:nvSpPr>
          <p:cNvPr id="10" name="Rectangle"/>
          <p:cNvSpPr/>
          <p:nvPr/>
        </p:nvSpPr>
        <p:spPr>
          <a:xfrm>
            <a:off x="8991600" y="4962525"/>
            <a:ext cx="76200" cy="76200"/>
          </a:xfrm>
          <a:prstGeom prst="rect">
            <a:avLst/>
          </a:prstGeom>
          <a:solidFill>
            <a:srgbClr val="2EB887"/>
          </a:solidFill>
          <a:ln/>
        </p:spPr>
      </p:sp>
      <p:sp>
        <p:nvSpPr>
          <p:cNvPr id="11" name="Rectangle"/>
          <p:cNvSpPr/>
          <p:nvPr/>
        </p:nvSpPr>
        <p:spPr>
          <a:xfrm>
            <a:off x="8991600" y="5743575"/>
            <a:ext cx="76200" cy="76200"/>
          </a:xfrm>
          <a:prstGeom prst="rect">
            <a:avLst/>
          </a:prstGeom>
          <a:solidFill>
            <a:srgbClr val="2EB887"/>
          </a:solidFill>
          <a:ln/>
        </p:spPr>
      </p:sp>
      <p:pic>
        <p:nvPicPr>
          <p:cNvPr id="12" name="image-8-2.png" descr="preencoded.png">    </p:cNvPr>
          <p:cNvPicPr>
            <a:picLocks noChangeAspect="1"/>
          </p:cNvPicPr>
          <p:nvPr/>
        </p:nvPicPr>
        <p:blipFill>
          <a:blip r:embed="rId4"/>
          <a:srcRect l="0" r="0" t="0" b="0"/>
          <a:stretch/>
        </p:blipFill>
        <p:spPr>
          <a:xfrm>
            <a:off x="16024408" y="520957"/>
            <a:ext cx="1438343" cy="390776"/>
          </a:xfrm>
          <a:prstGeom prst="rect">
            <a:avLst/>
          </a:prstGeom>
        </p:spPr>
      </p:pic>
      <p:sp>
        <p:nvSpPr>
          <p:cNvPr id="13" name="STAGE 1"/>
          <p:cNvSpPr/>
          <p:nvPr/>
        </p:nvSpPr>
        <p:spPr>
          <a:xfrm>
            <a:off x="438150" y="3686175"/>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STAGE 1</a:t>
            </a:r>
            <a:endParaRPr lang="en-US" sz="2175" dirty="0"/>
          </a:p>
        </p:txBody>
      </p:sp>
      <p:sp>
        <p:nvSpPr>
          <p:cNvPr id="14" name="name_37 Billion daily trading opportunity"/>
          <p:cNvSpPr/>
          <p:nvPr/>
        </p:nvSpPr>
        <p:spPr>
          <a:xfrm>
            <a:off x="647700" y="4857750"/>
            <a:ext cx="3981450" cy="571500"/>
          </a:xfrm>
          <a:prstGeom prst="rect">
            <a:avLst/>
          </a:prstGeom>
          <a:noFill/>
          <a:ln/>
        </p:spPr>
        <p:txBody>
          <a:bodyPr wrap="square" lIns="0" tIns="0" rIns="0" bIns="0" rtlCol="0" anchor="t"/>
          <a:lstStyle/>
          <a:p>
            <a:pPr algn="l" indent="0" marL="0">
              <a:lnSpc>
                <a:spcPts val="2250"/>
              </a:lnSpc>
              <a:buNone/>
            </a:pPr>
            <a:r>
              <a:rPr lang="en-US" sz="1875" dirty="0">
                <a:solidFill>
                  <a:srgbClr val="000000"/>
                </a:solidFill>
                <a:latin typeface="Inter Regular" pitchFamily="34" charset="0"/>
                <a:ea typeface="Inter Regular" pitchFamily="34" charset="-122"/>
                <a:cs typeface="Inter Regular" pitchFamily="34" charset="-120"/>
              </a:rPr>
              <a:t>$37 Billion daily trading opportunity.</a:t>
            </a:r>
            <a:endParaRPr lang="en-US" sz="1875" dirty="0"/>
          </a:p>
        </p:txBody>
      </p:sp>
      <p:sp>
        <p:nvSpPr>
          <p:cNvPr id="15" name="Minimal electronic competition"/>
          <p:cNvSpPr/>
          <p:nvPr/>
        </p:nvSpPr>
        <p:spPr>
          <a:xfrm>
            <a:off x="647700" y="5581650"/>
            <a:ext cx="3829050" cy="285750"/>
          </a:xfrm>
          <a:prstGeom prst="rect">
            <a:avLst/>
          </a:prstGeom>
          <a:noFill/>
          <a:ln/>
        </p:spPr>
        <p:txBody>
          <a:bodyPr wrap="square" lIns="0" tIns="0" rIns="0" bIns="0" rtlCol="0" anchor="t"/>
          <a:lstStyle/>
          <a:p>
            <a:pPr algn="l" indent="0" marL="0">
              <a:lnSpc>
                <a:spcPts val="2250"/>
              </a:lnSpc>
              <a:buNone/>
            </a:pPr>
            <a:r>
              <a:rPr lang="en-US" sz="1875" dirty="0">
                <a:solidFill>
                  <a:srgbClr val="000000"/>
                </a:solidFill>
                <a:latin typeface="Inter Regular" pitchFamily="34" charset="0"/>
                <a:ea typeface="Inter Regular" pitchFamily="34" charset="-122"/>
                <a:cs typeface="Inter Regular" pitchFamily="34" charset="-120"/>
              </a:rPr>
              <a:t>Minimal electronic competition.</a:t>
            </a:r>
            <a:endParaRPr lang="en-US" sz="1875" dirty="0"/>
          </a:p>
        </p:txBody>
      </p:sp>
      <p:sp>
        <p:nvSpPr>
          <p:cNvPr id="16" name="Strong demand for anonymous execution"/>
          <p:cNvSpPr/>
          <p:nvPr/>
        </p:nvSpPr>
        <p:spPr>
          <a:xfrm>
            <a:off x="647700" y="6057900"/>
            <a:ext cx="3829050" cy="571500"/>
          </a:xfrm>
          <a:prstGeom prst="rect">
            <a:avLst/>
          </a:prstGeom>
          <a:noFill/>
          <a:ln/>
        </p:spPr>
        <p:txBody>
          <a:bodyPr wrap="square" lIns="0" tIns="0" rIns="0" bIns="0" rtlCol="0" anchor="t"/>
          <a:lstStyle/>
          <a:p>
            <a:pPr algn="l" indent="0" marL="0">
              <a:lnSpc>
                <a:spcPts val="2250"/>
              </a:lnSpc>
              <a:buNone/>
            </a:pPr>
            <a:r>
              <a:rPr lang="en-US" sz="1875" dirty="0">
                <a:solidFill>
                  <a:srgbClr val="000000"/>
                </a:solidFill>
                <a:latin typeface="Inter Regular" pitchFamily="34" charset="0"/>
                <a:ea typeface="Inter Regular" pitchFamily="34" charset="-122"/>
                <a:cs typeface="Inter Regular" pitchFamily="34" charset="-120"/>
              </a:rPr>
              <a:t>Strong demand for anonymous execution.</a:t>
            </a:r>
            <a:endParaRPr lang="en-US" sz="1875" dirty="0"/>
          </a:p>
        </p:txBody>
      </p:sp>
      <p:sp>
        <p:nvSpPr>
          <p:cNvPr id="17" name="STAGE 2"/>
          <p:cNvSpPr/>
          <p:nvPr/>
        </p:nvSpPr>
        <p:spPr>
          <a:xfrm>
            <a:off x="4610100" y="3705225"/>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STAGE 2</a:t>
            </a:r>
            <a:endParaRPr lang="en-US" sz="2175" dirty="0"/>
          </a:p>
        </p:txBody>
      </p:sp>
      <p:sp>
        <p:nvSpPr>
          <p:cNvPr id="18" name="STAGE 3"/>
          <p:cNvSpPr/>
          <p:nvPr/>
        </p:nvSpPr>
        <p:spPr>
          <a:xfrm>
            <a:off x="8991600" y="3705225"/>
            <a:ext cx="1924050" cy="361950"/>
          </a:xfrm>
          <a:prstGeom prst="rect">
            <a:avLst/>
          </a:prstGeom>
          <a:noFill/>
          <a:ln/>
        </p:spPr>
        <p:txBody>
          <a:bodyPr wrap="square" lIns="0" tIns="0" rIns="0" bIns="0" rtlCol="0" anchor="t"/>
          <a:lstStyle/>
          <a:p>
            <a:pPr algn="l" indent="0" marL="0">
              <a:lnSpc>
                <a:spcPts val="2850"/>
              </a:lnSpc>
              <a:buNone/>
            </a:pPr>
            <a:r>
              <a:rPr lang="en-US" sz="2175" dirty="0">
                <a:solidFill>
                  <a:srgbClr val="187A5E"/>
                </a:solidFill>
                <a:latin typeface="IBM Plex Mono Medium" pitchFamily="34" charset="0"/>
                <a:ea typeface="IBM Plex Mono Medium" pitchFamily="34" charset="-122"/>
                <a:cs typeface="IBM Plex Mono Medium" pitchFamily="34" charset="-120"/>
              </a:rPr>
              <a:t>STAGE 3</a:t>
            </a:r>
            <a:endParaRPr lang="en-US" sz="2175" dirty="0"/>
          </a:p>
        </p:txBody>
      </p:sp>
      <p:sp>
        <p:nvSpPr>
          <p:cNvPr id="19" name="LATAM Asia Eastern Europe"/>
          <p:cNvSpPr/>
          <p:nvPr/>
        </p:nvSpPr>
        <p:spPr>
          <a:xfrm>
            <a:off x="4924425" y="4848225"/>
            <a:ext cx="3829050" cy="285750"/>
          </a:xfrm>
          <a:prstGeom prst="rect">
            <a:avLst/>
          </a:prstGeom>
          <a:noFill/>
          <a:ln/>
        </p:spPr>
        <p:txBody>
          <a:bodyPr wrap="square" lIns="0" tIns="0" rIns="0" bIns="0" rtlCol="0" anchor="t"/>
          <a:lstStyle/>
          <a:p>
            <a:pPr algn="l" indent="0" marL="0">
              <a:lnSpc>
                <a:spcPts val="2250"/>
              </a:lnSpc>
              <a:buNone/>
            </a:pPr>
            <a:r>
              <a:rPr lang="en-US" sz="1875" dirty="0">
                <a:solidFill>
                  <a:srgbClr val="33433E"/>
                </a:solidFill>
                <a:latin typeface="Inter Regular" pitchFamily="34" charset="0"/>
                <a:ea typeface="Inter Regular" pitchFamily="34" charset="-122"/>
                <a:cs typeface="Inter Regular" pitchFamily="34" charset="-120"/>
              </a:rPr>
              <a:t>LATAM, Asia, Eastern Europe.</a:t>
            </a:r>
            <a:endParaRPr lang="en-US" sz="1875" dirty="0"/>
          </a:p>
        </p:txBody>
      </p:sp>
      <p:sp>
        <p:nvSpPr>
          <p:cNvPr id="20" name="name_105 Trillion addressable swap market"/>
          <p:cNvSpPr/>
          <p:nvPr/>
        </p:nvSpPr>
        <p:spPr>
          <a:xfrm>
            <a:off x="4924425" y="5314950"/>
            <a:ext cx="3095625" cy="571500"/>
          </a:xfrm>
          <a:prstGeom prst="rect">
            <a:avLst/>
          </a:prstGeom>
          <a:noFill/>
          <a:ln/>
        </p:spPr>
        <p:txBody>
          <a:bodyPr wrap="square" lIns="0" tIns="0" rIns="0" bIns="0" rtlCol="0" anchor="t"/>
          <a:lstStyle/>
          <a:p>
            <a:pPr algn="l" indent="0" marL="0">
              <a:lnSpc>
                <a:spcPts val="2250"/>
              </a:lnSpc>
              <a:buNone/>
            </a:pPr>
            <a:r>
              <a:rPr lang="en-US" sz="1875" dirty="0">
                <a:solidFill>
                  <a:srgbClr val="33433E"/>
                </a:solidFill>
                <a:latin typeface="Inter Regular" pitchFamily="34" charset="0"/>
                <a:ea typeface="Inter Regular" pitchFamily="34" charset="-122"/>
                <a:cs typeface="Inter Regular" pitchFamily="34" charset="-120"/>
              </a:rPr>
              <a:t>$105 Trillion addressable swap market.</a:t>
            </a:r>
            <a:endParaRPr lang="en-US" sz="1875" dirty="0"/>
          </a:p>
        </p:txBody>
      </p:sp>
      <p:sp>
        <p:nvSpPr>
          <p:cNvPr id="21" name="The major currencies Dollar Euro Pound"/>
          <p:cNvSpPr/>
          <p:nvPr/>
        </p:nvSpPr>
        <p:spPr>
          <a:xfrm>
            <a:off x="9201150" y="4848225"/>
            <a:ext cx="3829050" cy="571500"/>
          </a:xfrm>
          <a:prstGeom prst="rect">
            <a:avLst/>
          </a:prstGeom>
          <a:noFill/>
          <a:ln/>
        </p:spPr>
        <p:txBody>
          <a:bodyPr wrap="square" lIns="0" tIns="0" rIns="0" bIns="0" rtlCol="0" anchor="t"/>
          <a:lstStyle/>
          <a:p>
            <a:pPr algn="l" indent="0" marL="0">
              <a:lnSpc>
                <a:spcPts val="2250"/>
              </a:lnSpc>
              <a:buNone/>
            </a:pPr>
            <a:r>
              <a:rPr lang="en-US" sz="1875" dirty="0">
                <a:solidFill>
                  <a:srgbClr val="000000"/>
                </a:solidFill>
                <a:latin typeface="Inter Regular" pitchFamily="34" charset="0"/>
                <a:ea typeface="Inter Regular" pitchFamily="34" charset="-122"/>
                <a:cs typeface="Inter Regular" pitchFamily="34" charset="-120"/>
              </a:rPr>
              <a:t>The major currencies: </a:t>
            </a:r>
            <a:pPr algn="l" indent="0" marL="0">
              <a:lnSpc>
                <a:spcPts val="2250"/>
              </a:lnSpc>
              <a:buNone/>
            </a:pPr>
            <a:endParaRPr lang="en-US" sz="1875" dirty="0"/>
          </a:p>
          <a:p>
            <a:pPr algn="l" indent="0" marL="0">
              <a:lnSpc>
                <a:spcPts val="2250"/>
              </a:lnSpc>
              <a:buNone/>
            </a:pPr>
            <a:r>
              <a:rPr lang="en-US" sz="1875" dirty="0">
                <a:solidFill>
                  <a:srgbClr val="000000"/>
                </a:solidFill>
                <a:latin typeface="Inter Regular" pitchFamily="34" charset="0"/>
                <a:ea typeface="Inter Regular" pitchFamily="34" charset="-122"/>
                <a:cs typeface="Inter Regular" pitchFamily="34" charset="-120"/>
              </a:rPr>
              <a:t>Dollar, Euro, Pound.</a:t>
            </a:r>
            <a:endParaRPr lang="en-US" sz="1875" dirty="0"/>
          </a:p>
        </p:txBody>
      </p:sp>
      <p:sp>
        <p:nvSpPr>
          <p:cNvPr id="22" name="The 590 Trillion market fully realized"/>
          <p:cNvSpPr/>
          <p:nvPr/>
        </p:nvSpPr>
        <p:spPr>
          <a:xfrm>
            <a:off x="9201150" y="5629275"/>
            <a:ext cx="3143250" cy="857250"/>
          </a:xfrm>
          <a:prstGeom prst="rect">
            <a:avLst/>
          </a:prstGeom>
          <a:noFill/>
          <a:ln/>
        </p:spPr>
        <p:txBody>
          <a:bodyPr wrap="square" lIns="0" tIns="0" rIns="0" bIns="0" rtlCol="0" anchor="t"/>
          <a:lstStyle/>
          <a:p>
            <a:pPr algn="l" indent="0" marL="0">
              <a:lnSpc>
                <a:spcPts val="2250"/>
              </a:lnSpc>
              <a:buNone/>
            </a:pPr>
            <a:r>
              <a:rPr lang="en-US" sz="1875" dirty="0">
                <a:solidFill>
                  <a:srgbClr val="000000"/>
                </a:solidFill>
                <a:latin typeface="Inter Regular" pitchFamily="34" charset="0"/>
                <a:ea typeface="Inter Regular" pitchFamily="34" charset="-122"/>
                <a:cs typeface="Inter Regular" pitchFamily="34" charset="-120"/>
              </a:rPr>
              <a:t>The $590 Trillion market fully realized.</a:t>
            </a:r>
            <a:br/>
            <a:pPr algn="l" indent="0" marL="0">
              <a:lnSpc>
                <a:spcPts val="2250"/>
              </a:lnSpc>
              <a:buNone/>
            </a:pPr>
            <a:endParaRPr lang="en-US" sz="1875" dirty="0"/>
          </a:p>
        </p:txBody>
      </p:sp>
      <p:sp>
        <p:nvSpPr>
          <p:cNvPr id="23" name="Launch where the opportunity is greatest Scale from there"/>
          <p:cNvSpPr/>
          <p:nvPr/>
        </p:nvSpPr>
        <p:spPr>
          <a:xfrm>
            <a:off x="514350" y="1066800"/>
            <a:ext cx="17221200" cy="561975"/>
          </a:xfrm>
          <a:prstGeom prst="rect">
            <a:avLst/>
          </a:prstGeom>
          <a:noFill/>
          <a:ln/>
        </p:spPr>
        <p:txBody>
          <a:bodyPr wrap="square" lIns="0" tIns="0" rIns="0" bIns="0" rtlCol="0" anchor="t"/>
          <a:lstStyle/>
          <a:p>
            <a:pPr algn="l" indent="0" marL="0">
              <a:buNone/>
            </a:pPr>
            <a:r>
              <a:rPr lang="en-US" sz="4125" dirty="0">
                <a:solidFill>
                  <a:srgbClr val="074B4E"/>
                </a:solidFill>
                <a:latin typeface="Open Sans Semibold" pitchFamily="34" charset="0"/>
                <a:ea typeface="Open Sans Semibold" pitchFamily="34" charset="-122"/>
                <a:cs typeface="Open Sans Semibold" pitchFamily="34" charset="-120"/>
              </a:rPr>
              <a:t>Launch where the opportunity is greatest.</a:t>
            </a:r>
            <a:pPr algn="l" indent="0" marL="0">
              <a:buNone/>
            </a:pPr>
            <a:r>
              <a:rPr lang="en-US" sz="4125" b="1" dirty="0">
                <a:solidFill>
                  <a:srgbClr val="074B4E"/>
                </a:solidFill>
                <a:latin typeface="Open Sans Bold" pitchFamily="34" charset="0"/>
                <a:ea typeface="Open Sans Bold" pitchFamily="34" charset="-122"/>
                <a:cs typeface="Open Sans Bold" pitchFamily="34" charset="-120"/>
              </a:rPr>
              <a:t> Scale from there.</a:t>
            </a:r>
            <a:endParaRPr lang="en-US" sz="4125" dirty="0"/>
          </a:p>
        </p:txBody>
      </p:sp>
      <p:sp>
        <p:nvSpPr>
          <p:cNvPr id="24" name="Mexico  Chile"/>
          <p:cNvSpPr/>
          <p:nvPr/>
        </p:nvSpPr>
        <p:spPr>
          <a:xfrm>
            <a:off x="409575" y="4162425"/>
            <a:ext cx="3638550" cy="504825"/>
          </a:xfrm>
          <a:prstGeom prst="rect">
            <a:avLst/>
          </a:prstGeom>
          <a:noFill/>
          <a:ln/>
        </p:spPr>
        <p:txBody>
          <a:bodyPr wrap="square" lIns="0" tIns="0" rIns="0" bIns="0" rtlCol="0" anchor="t"/>
          <a:lstStyle/>
          <a:p>
            <a:pPr algn="l" indent="0" marL="0">
              <a:lnSpc>
                <a:spcPts val="3900"/>
              </a:lnSpc>
              <a:buNone/>
            </a:pPr>
            <a:r>
              <a:rPr lang="en-US" sz="3300" b="1" dirty="0">
                <a:solidFill>
                  <a:srgbClr val="12ADA7"/>
                </a:solidFill>
                <a:latin typeface="Inter Bold" pitchFamily="34" charset="0"/>
                <a:ea typeface="Inter Bold" pitchFamily="34" charset="-122"/>
                <a:cs typeface="Inter Bold" pitchFamily="34" charset="-120"/>
              </a:rPr>
              <a:t>Mexico + Chile</a:t>
            </a:r>
            <a:endParaRPr lang="en-US" sz="3300" dirty="0"/>
          </a:p>
        </p:txBody>
      </p:sp>
      <p:sp>
        <p:nvSpPr>
          <p:cNvPr id="25" name="Emerging Markets"/>
          <p:cNvSpPr/>
          <p:nvPr/>
        </p:nvSpPr>
        <p:spPr>
          <a:xfrm>
            <a:off x="4591050" y="4162425"/>
            <a:ext cx="3952875" cy="504825"/>
          </a:xfrm>
          <a:prstGeom prst="rect">
            <a:avLst/>
          </a:prstGeom>
          <a:noFill/>
          <a:ln/>
        </p:spPr>
        <p:txBody>
          <a:bodyPr wrap="square" lIns="0" tIns="0" rIns="0" bIns="0" rtlCol="0" anchor="t"/>
          <a:lstStyle/>
          <a:p>
            <a:pPr algn="l" indent="0" marL="0">
              <a:lnSpc>
                <a:spcPts val="3900"/>
              </a:lnSpc>
              <a:buNone/>
            </a:pPr>
            <a:r>
              <a:rPr lang="en-US" sz="3300" b="1" dirty="0">
                <a:solidFill>
                  <a:srgbClr val="12ADA7"/>
                </a:solidFill>
                <a:latin typeface="Inter Bold" pitchFamily="34" charset="0"/>
                <a:ea typeface="Inter Bold" pitchFamily="34" charset="-122"/>
                <a:cs typeface="Inter Bold" pitchFamily="34" charset="-120"/>
              </a:rPr>
              <a:t>Emerging Markets</a:t>
            </a:r>
            <a:endParaRPr lang="en-US" sz="3300" dirty="0"/>
          </a:p>
        </p:txBody>
      </p:sp>
      <p:sp>
        <p:nvSpPr>
          <p:cNvPr id="26" name="Global Markets"/>
          <p:cNvSpPr/>
          <p:nvPr/>
        </p:nvSpPr>
        <p:spPr>
          <a:xfrm>
            <a:off x="8934450" y="4162425"/>
            <a:ext cx="3952875" cy="504825"/>
          </a:xfrm>
          <a:prstGeom prst="rect">
            <a:avLst/>
          </a:prstGeom>
          <a:noFill/>
          <a:ln/>
        </p:spPr>
        <p:txBody>
          <a:bodyPr wrap="square" lIns="0" tIns="0" rIns="0" bIns="0" rtlCol="0" anchor="t"/>
          <a:lstStyle/>
          <a:p>
            <a:pPr algn="l" indent="0" marL="0">
              <a:lnSpc>
                <a:spcPts val="3900"/>
              </a:lnSpc>
              <a:buNone/>
            </a:pPr>
            <a:r>
              <a:rPr lang="en-US" sz="3300" b="1" dirty="0">
                <a:solidFill>
                  <a:srgbClr val="12ADA7"/>
                </a:solidFill>
                <a:latin typeface="Inter Bold" pitchFamily="34" charset="0"/>
                <a:ea typeface="Inter Bold" pitchFamily="34" charset="-122"/>
                <a:cs typeface="Inter Bold" pitchFamily="34" charset="-120"/>
              </a:rPr>
              <a:t>Global Markets</a:t>
            </a:r>
            <a:endParaRPr lang="en-US" sz="3300" dirty="0"/>
          </a:p>
        </p:txBody>
      </p:sp>
      <p:sp>
        <p:nvSpPr>
          <p:cNvPr id="27" name="SEPTEMBER 2026"/>
          <p:cNvSpPr/>
          <p:nvPr/>
        </p:nvSpPr>
        <p:spPr>
          <a:xfrm>
            <a:off x="15678150" y="964882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54BABE"/>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28" name="Text 8"/>
          <p:cNvSpPr/>
          <p:nvPr/>
        </p:nvSpPr>
        <p:spPr>
          <a:xfrm>
            <a:off x="752475" y="962977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2E8B7A"/>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8"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WO-001 1" descr="preencoded.png">    </p:cNvPr>
          <p:cNvPicPr>
            <a:picLocks noChangeAspect="1"/>
          </p:cNvPicPr>
          <p:nvPr/>
        </p:nvPicPr>
        <p:blipFill>
          <a:blip r:embed="rId2"/>
          <a:srcRect l="0" r="0" t="0" b="0"/>
          <a:stretch/>
        </p:blipFill>
        <p:spPr>
          <a:xfrm>
            <a:off x="466725" y="618734"/>
            <a:ext cx="2238759" cy="2200666"/>
          </a:xfrm>
          <a:prstGeom prst="rect">
            <a:avLst/>
          </a:prstGeom>
        </p:spPr>
      </p:pic>
      <p:sp>
        <p:nvSpPr>
          <p:cNvPr id="4" name="Body"/>
          <p:cNvSpPr/>
          <p:nvPr/>
        </p:nvSpPr>
        <p:spPr>
          <a:xfrm>
            <a:off x="3248025" y="5553075"/>
            <a:ext cx="2762250" cy="800100"/>
          </a:xfrm>
          <a:prstGeom prst="rect">
            <a:avLst/>
          </a:prstGeom>
          <a:noFill/>
          <a:ln/>
        </p:spPr>
        <p:txBody>
          <a:bodyPr wrap="square" lIns="0" tIns="0" rIns="0" bIns="0" rtlCol="0" anchor="ctr"/>
          <a:lstStyle/>
          <a:p>
            <a:pPr algn="l" indent="0" marL="0">
              <a:lnSpc>
                <a:spcPts val="3750"/>
              </a:lnSpc>
              <a:buNone/>
            </a:pPr>
            <a:r>
              <a:rPr lang="en-US" sz="2700" b="1" dirty="0">
                <a:solidFill>
                  <a:srgbClr val="188987"/>
                </a:solidFill>
                <a:latin typeface="Open Sans Bold" pitchFamily="34" charset="0"/>
                <a:ea typeface="Open Sans Bold" pitchFamily="34" charset="-122"/>
                <a:cs typeface="Open Sans Bold" pitchFamily="34" charset="-120"/>
              </a:rPr>
              <a:t>Vinayek Singh</a:t>
            </a:r>
            <a:pPr algn="l" indent="0" marL="0">
              <a:lnSpc>
                <a:spcPts val="3750"/>
              </a:lnSpc>
              <a:buNone/>
            </a:pPr>
            <a:endParaRPr lang="en-US" sz="2700" dirty="0"/>
          </a:p>
          <a:p>
            <a:pPr algn="l" indent="0" marL="0">
              <a:lnSpc>
                <a:spcPts val="2775"/>
              </a:lnSpc>
              <a:buNone/>
            </a:pPr>
            <a:r>
              <a:rPr lang="en-US" sz="2025" dirty="0">
                <a:solidFill>
                  <a:srgbClr val="289C99"/>
                </a:solidFill>
                <a:latin typeface="Open Sans Regular" pitchFamily="34" charset="0"/>
                <a:ea typeface="Open Sans Regular" pitchFamily="34" charset="-122"/>
                <a:cs typeface="Open Sans Regular" pitchFamily="34" charset="-120"/>
              </a:rPr>
              <a:t>‍Chief Executive Officer</a:t>
            </a:r>
            <a:endParaRPr lang="en-US" sz="2700" dirty="0"/>
          </a:p>
        </p:txBody>
      </p:sp>
      <p:sp>
        <p:nvSpPr>
          <p:cNvPr id="5" name="Our team brings decades of derivatives experience running brokerage desks and bank trading operations building matching engines and working within CFTC and CCP governance We came from inside this market Thats why what we have built connects directly to th"/>
          <p:cNvSpPr/>
          <p:nvPr/>
        </p:nvSpPr>
        <p:spPr>
          <a:xfrm>
            <a:off x="3248025" y="2943225"/>
            <a:ext cx="13535025" cy="1828800"/>
          </a:xfrm>
          <a:prstGeom prst="rect">
            <a:avLst/>
          </a:prstGeom>
          <a:noFill/>
          <a:ln/>
        </p:spPr>
        <p:txBody>
          <a:bodyPr wrap="square" lIns="0" tIns="0" rIns="0" bIns="0" rtlCol="0" anchor="t"/>
          <a:lstStyle/>
          <a:p>
            <a:pPr algn="l" indent="0" marL="0">
              <a:buNone/>
            </a:pPr>
            <a:r>
              <a:rPr lang="en-US" sz="2625" dirty="0">
                <a:solidFill>
                  <a:srgbClr val="2C964F"/>
                </a:solidFill>
                <a:latin typeface="Open Sans Regular" pitchFamily="34" charset="0"/>
                <a:ea typeface="Open Sans Regular" pitchFamily="34" charset="-122"/>
                <a:cs typeface="Open Sans Regular" pitchFamily="34" charset="-120"/>
              </a:rPr>
              <a:t>“</a:t>
            </a:r>
            <a:pPr algn="l" indent="0" marL="0">
              <a:buNone/>
            </a:pPr>
            <a:r>
              <a:rPr lang="en-US" sz="2625" b="1" dirty="0">
                <a:solidFill>
                  <a:srgbClr val="2C964F"/>
                </a:solidFill>
                <a:latin typeface="Open Sans Bold" pitchFamily="34" charset="0"/>
                <a:ea typeface="Open Sans Bold" pitchFamily="34" charset="-122"/>
                <a:cs typeface="Open Sans Bold" pitchFamily="34" charset="-120"/>
              </a:rPr>
              <a:t>Our team brings decades of derivatives experience:</a:t>
            </a:r>
            <a:pPr algn="l" indent="0" marL="0">
              <a:buNone/>
            </a:pPr>
            <a:r>
              <a:rPr lang="en-US" sz="2625" dirty="0">
                <a:solidFill>
                  <a:srgbClr val="2C964F"/>
                </a:solidFill>
                <a:latin typeface="Open Sans Regular" pitchFamily="34" charset="0"/>
                <a:ea typeface="Open Sans Regular" pitchFamily="34" charset="-122"/>
                <a:cs typeface="Open Sans Regular" pitchFamily="34" charset="-120"/>
              </a:rPr>
              <a:t> running brokerage desks and bank trading operations, building matching engines, and working within CFTC and CCP governance. We came from inside this market. That's why what we have built connects directly to the systems it already runs on.”</a:t>
            </a:r>
            <a:endParaRPr lang="en-US" sz="2625" dirty="0"/>
          </a:p>
        </p:txBody>
      </p:sp>
      <p:sp>
        <p:nvSpPr>
          <p:cNvPr id="6" name="OMeT is engaging select investors ahead of commercial launch and global expansion"/>
          <p:cNvSpPr/>
          <p:nvPr/>
        </p:nvSpPr>
        <p:spPr>
          <a:xfrm>
            <a:off x="3248025" y="7524750"/>
            <a:ext cx="13535025" cy="485775"/>
          </a:xfrm>
          <a:prstGeom prst="rect">
            <a:avLst/>
          </a:prstGeom>
          <a:noFill/>
          <a:ln/>
        </p:spPr>
        <p:txBody>
          <a:bodyPr wrap="square" lIns="0" tIns="0" rIns="0" bIns="0" rtlCol="0" anchor="t"/>
          <a:lstStyle/>
          <a:p>
            <a:pPr algn="l" indent="0" marL="0">
              <a:lnSpc>
                <a:spcPct val="114167"/>
              </a:lnSpc>
              <a:buNone/>
            </a:pPr>
            <a:r>
              <a:rPr lang="en-US" sz="2775" b="1" i="1" dirty="0">
                <a:solidFill>
                  <a:srgbClr val="188987"/>
                </a:solidFill>
                <a:latin typeface="Open Sans Bold Italic" pitchFamily="34" charset="0"/>
                <a:ea typeface="Open Sans Bold Italic" pitchFamily="34" charset="-122"/>
                <a:cs typeface="Open Sans Bold Italic" pitchFamily="34" charset="-120"/>
              </a:rPr>
              <a:t>OMeT</a:t>
            </a:r>
            <a:pPr algn="l" indent="0" marL="0">
              <a:lnSpc>
                <a:spcPct val="114167"/>
              </a:lnSpc>
              <a:buNone/>
            </a:pPr>
            <a:r>
              <a:rPr lang="en-US" sz="2775" i="1" dirty="0">
                <a:solidFill>
                  <a:srgbClr val="188987"/>
                </a:solidFill>
                <a:latin typeface="Open Sans Italic" pitchFamily="34" charset="0"/>
                <a:ea typeface="Open Sans Italic" pitchFamily="34" charset="-122"/>
                <a:cs typeface="Open Sans Italic" pitchFamily="34" charset="-120"/>
              </a:rPr>
              <a:t> is engaging select investors ahead of commercial launch and global expansion. </a:t>
            </a:r>
            <a:endParaRPr lang="en-US" sz="2775" dirty="0"/>
          </a:p>
        </p:txBody>
      </p:sp>
      <p:sp>
        <p:nvSpPr>
          <p:cNvPr id="7" name="This presentation contains forward-looking statements including anticipated regulatory approvals launch timing partnerships and market opportunity These reflect current expectations and are subject to risks and uncertainties actual results may differ mate"/>
          <p:cNvSpPr/>
          <p:nvPr/>
        </p:nvSpPr>
        <p:spPr>
          <a:xfrm>
            <a:off x="752475" y="8905875"/>
            <a:ext cx="9363075" cy="400050"/>
          </a:xfrm>
          <a:prstGeom prst="rect">
            <a:avLst/>
          </a:prstGeom>
          <a:noFill/>
          <a:ln/>
        </p:spPr>
        <p:txBody>
          <a:bodyPr wrap="square" lIns="0" tIns="0" rIns="0" bIns="0" rtlCol="0" anchor="t"/>
          <a:lstStyle/>
          <a:p>
            <a:pPr algn="l" indent="0" marL="0">
              <a:lnSpc>
                <a:spcPct val="114167"/>
              </a:lnSpc>
              <a:buNone/>
            </a:pPr>
            <a:r>
              <a:rPr lang="en-US" sz="1125" dirty="0">
                <a:solidFill>
                  <a:srgbClr val="703A05"/>
                </a:solidFill>
                <a:latin typeface="Open Sans Light" pitchFamily="34" charset="0"/>
                <a:ea typeface="Open Sans Light" pitchFamily="34" charset="-122"/>
                <a:cs typeface="Open Sans Light" pitchFamily="34" charset="-120"/>
              </a:rPr>
              <a:t>This presentation contains forward-looking statements, including anticipated regulatory approvals, launch timing, partnerships, and market opportunity. These reflect current expectations and are subject to risks and uncertainties; actual results may differ materially.  </a:t>
            </a:r>
            <a:endParaRPr lang="en-US" sz="1125" dirty="0"/>
          </a:p>
        </p:txBody>
      </p:sp>
      <p:sp>
        <p:nvSpPr>
          <p:cNvPr id="8" name="om-etradingcom"/>
          <p:cNvSpPr/>
          <p:nvPr/>
        </p:nvSpPr>
        <p:spPr>
          <a:xfrm>
            <a:off x="8220075" y="9591675"/>
            <a:ext cx="2457450" cy="285750"/>
          </a:xfrm>
          <a:prstGeom prst="rect">
            <a:avLst/>
          </a:prstGeom>
          <a:noFill/>
          <a:ln/>
        </p:spPr>
        <p:txBody>
          <a:bodyPr wrap="square" lIns="0" tIns="0" rIns="0" bIns="0" rtlCol="0" anchor="t"/>
          <a:lstStyle/>
          <a:p>
            <a:pPr algn="l" indent="0" marL="0">
              <a:lnSpc>
                <a:spcPts val="2250"/>
              </a:lnSpc>
              <a:buNone/>
            </a:pPr>
            <a:r>
              <a:rPr lang="en-US" sz="1725" u="sng" dirty="0">
                <a:solidFill>
                  <a:srgbClr val="03A842"/>
                </a:solidFill>
                <a:uFill>
                  <a:solidFill>
                    <a:srgbClr val="03A842"/>
                  </a:solidFill>
                </a:uFill>
                <a:latin typeface="IBM Plex Mono Regular" pitchFamily="34" charset="0"/>
                <a:ea typeface="IBM Plex Mono Regular" pitchFamily="34" charset="-122"/>
                <a:cs typeface="IBM Plex Mono Regular" pitchFamily="34" charset="-120"/>
                <a:hlinkClick r:id="rId3" invalidUrl="" action="" tgtFrame="" tooltip="" history="1" highlightClick="0" endSnd="0">
                  <a:extLst>
                    <a:ext uri="{A12FA001-AC4F-418D-AE19-62706E023703}">
                      <ahyp:hlinkClr xmlns:ahyp="http://schemas.microsoft.com/office/drawing/2018/hyperlinkcolor" val="tx"/>
                    </a:ext>
                  </a:extLst>
                </a:hlinkClick>
              </a:rPr>
              <a:t>om-etrading.com </a:t>
            </a:r>
            <a:endParaRPr lang="en-US" sz="1725" dirty="0"/>
          </a:p>
        </p:txBody>
      </p:sp>
      <p:sp>
        <p:nvSpPr>
          <p:cNvPr id="9" name="OMeT applies practitioner knowledge from the markets previous generation to the infrastructure the next generation requires"/>
          <p:cNvSpPr/>
          <p:nvPr/>
        </p:nvSpPr>
        <p:spPr>
          <a:xfrm>
            <a:off x="3248025" y="1019175"/>
            <a:ext cx="14182725" cy="1400175"/>
          </a:xfrm>
          <a:prstGeom prst="rect">
            <a:avLst/>
          </a:prstGeom>
          <a:noFill/>
          <a:ln/>
        </p:spPr>
        <p:txBody>
          <a:bodyPr wrap="square" lIns="0" tIns="0" rIns="0" bIns="0" rtlCol="0" anchor="t"/>
          <a:lstStyle/>
          <a:p>
            <a:pPr algn="l" indent="0" marL="0">
              <a:buNone/>
            </a:pPr>
            <a:r>
              <a:rPr lang="en-US" sz="3825" b="1" dirty="0">
                <a:solidFill>
                  <a:srgbClr val="39A6AA"/>
                </a:solidFill>
                <a:latin typeface="Open Sans Bold" pitchFamily="34" charset="0"/>
                <a:ea typeface="Open Sans Bold" pitchFamily="34" charset="-122"/>
                <a:cs typeface="Open Sans Bold" pitchFamily="34" charset="-120"/>
              </a:rPr>
              <a:t>OMeT</a:t>
            </a:r>
            <a:pPr algn="l" indent="0" marL="0">
              <a:buNone/>
            </a:pPr>
            <a:r>
              <a:rPr lang="en-US" sz="3825" dirty="0">
                <a:solidFill>
                  <a:srgbClr val="39A6AA"/>
                </a:solidFill>
                <a:latin typeface="Open Sans Semibold" pitchFamily="34" charset="0"/>
                <a:ea typeface="Open Sans Semibold" pitchFamily="34" charset="-122"/>
                <a:cs typeface="Open Sans Semibold" pitchFamily="34" charset="-120"/>
              </a:rPr>
              <a:t> </a:t>
            </a:r>
            <a:pPr algn="l" indent="0" marL="0">
              <a:buNone/>
            </a:pPr>
            <a:r>
              <a:rPr lang="en-US" sz="3825" dirty="0">
                <a:solidFill>
                  <a:srgbClr val="39A6AA"/>
                </a:solidFill>
                <a:latin typeface="Open Sans Regular" pitchFamily="34" charset="0"/>
                <a:ea typeface="Open Sans Regular" pitchFamily="34" charset="-122"/>
                <a:cs typeface="Open Sans Regular" pitchFamily="34" charset="-120"/>
              </a:rPr>
              <a:t>applies practitioner knowledge from the market's previous generation to the infrastructure the next generation requires.</a:t>
            </a:r>
            <a:endParaRPr lang="en-US" sz="3825" dirty="0"/>
          </a:p>
        </p:txBody>
      </p:sp>
      <p:sp>
        <p:nvSpPr>
          <p:cNvPr id="10" name="SEPTEMBER 2026"/>
          <p:cNvSpPr/>
          <p:nvPr/>
        </p:nvSpPr>
        <p:spPr>
          <a:xfrm>
            <a:off x="15678150" y="9648825"/>
            <a:ext cx="1990725" cy="209550"/>
          </a:xfrm>
          <a:prstGeom prst="rect">
            <a:avLst/>
          </a:prstGeom>
          <a:noFill/>
          <a:ln/>
        </p:spPr>
        <p:txBody>
          <a:bodyPr wrap="square" lIns="0" tIns="0" rIns="0" bIns="0" rtlCol="0" anchor="t"/>
          <a:lstStyle/>
          <a:p>
            <a:pPr algn="l" indent="0" marL="0">
              <a:lnSpc>
                <a:spcPts val="1650"/>
              </a:lnSpc>
              <a:buNone/>
            </a:pPr>
            <a:r>
              <a:rPr lang="en-US" sz="1275" dirty="0">
                <a:solidFill>
                  <a:srgbClr val="54BABE"/>
                </a:solidFill>
                <a:latin typeface="IBM Plex Mono Regular" pitchFamily="34" charset="0"/>
                <a:ea typeface="IBM Plex Mono Regular" pitchFamily="34" charset="-122"/>
                <a:cs typeface="IBM Plex Mono Regular" pitchFamily="34" charset="-120"/>
              </a:rPr>
              <a:t>SEPTEMBER 2026</a:t>
            </a:r>
            <a:endParaRPr lang="en-US" sz="1275" dirty="0"/>
          </a:p>
        </p:txBody>
      </p:sp>
      <p:sp>
        <p:nvSpPr>
          <p:cNvPr id="11" name="Text 8"/>
          <p:cNvSpPr/>
          <p:nvPr/>
        </p:nvSpPr>
        <p:spPr>
          <a:xfrm>
            <a:off x="752475" y="9629775"/>
            <a:ext cx="6943725" cy="323850"/>
          </a:xfrm>
          <a:prstGeom prst="rect">
            <a:avLst/>
          </a:prstGeom>
          <a:noFill/>
          <a:ln/>
        </p:spPr>
        <p:txBody>
          <a:bodyPr wrap="square" lIns="0" tIns="0" rIns="0" bIns="0" rtlCol="0" anchor="t"/>
          <a:lstStyle/>
          <a:p>
            <a:pPr algn="l" indent="0" marL="0">
              <a:lnSpc>
                <a:spcPts val="2520"/>
              </a:lnSpc>
              <a:buNone/>
            </a:pPr>
            <a:r>
              <a:rPr lang="en-US" sz="1275" dirty="0">
                <a:solidFill>
                  <a:srgbClr val="2E8B7A"/>
                </a:solidFill>
                <a:latin typeface="IBM Plex Mono Regular" pitchFamily="34" charset="0"/>
                <a:ea typeface="IBM Plex Mono Regular" pitchFamily="34" charset="-122"/>
                <a:cs typeface="IBM Plex Mono Regular" pitchFamily="34" charset="-120"/>
              </a:rPr>
              <a:t>CONFIDENTIAL · INVESTOR PRESENTATION · NON-NDA </a:t>
            </a:r>
            <a:endParaRPr lang="en-US" sz="1275" dirty="0"/>
          </a:p>
        </p:txBody>
      </p:sp>
      <p:sp>
        <p:nvSpPr>
          <p:cNvPr id="12" name="vsinghom-etradingcom"/>
          <p:cNvSpPr/>
          <p:nvPr/>
        </p:nvSpPr>
        <p:spPr>
          <a:xfrm>
            <a:off x="3276600" y="6477000"/>
            <a:ext cx="2657475" cy="247650"/>
          </a:xfrm>
          <a:prstGeom prst="rect">
            <a:avLst/>
          </a:prstGeom>
          <a:noFill/>
          <a:ln/>
        </p:spPr>
        <p:txBody>
          <a:bodyPr wrap="square" lIns="0" tIns="0" rIns="0" bIns="0" rtlCol="0" anchor="ctr"/>
          <a:lstStyle/>
          <a:p>
            <a:pPr algn="l" indent="0" marL="0">
              <a:lnSpc>
                <a:spcPts val="1950"/>
              </a:lnSpc>
              <a:buNone/>
            </a:pPr>
            <a:r>
              <a:rPr lang="en-US" sz="1500" u="sng" dirty="0">
                <a:solidFill>
                  <a:srgbClr val="015857"/>
                </a:solidFill>
                <a:latin typeface="IBM Plex Mono Regular" pitchFamily="34" charset="0"/>
                <a:ea typeface="IBM Plex Mono Regular" pitchFamily="34" charset="-122"/>
                <a:cs typeface="IBM Plex Mono Regular" pitchFamily="34" charset="-120"/>
                <a:hlinkClick r:id="rId4" invalidUrl="" action="" tgtFrame="" tooltip="" history="1" highlightClick="0" endSnd="0">
                  <a:extLst>
                    <a:ext uri="{A12FA001-AC4F-418D-AE19-62706E023703}">
                      <ahyp:hlinkClr xmlns:ahyp="http://schemas.microsoft.com/office/drawing/2018/hyperlinkcolor" val="tx"/>
                    </a:ext>
                  </a:extLst>
                </a:hlinkClick>
              </a:rPr>
              <a:t>v.singh@om-etrading.com</a:t>
            </a:r>
            <a:endParaRPr lang="en-US" sz="1500" dirty="0"/>
          </a:p>
        </p:txBody>
      </p:sp>
      <p:sp>
        <p:nvSpPr>
          <p:cNvPr id="13" name="P 1-917-403-0300"/>
          <p:cNvSpPr/>
          <p:nvPr/>
        </p:nvSpPr>
        <p:spPr>
          <a:xfrm>
            <a:off x="3257550" y="6753225"/>
            <a:ext cx="2200275" cy="247650"/>
          </a:xfrm>
          <a:prstGeom prst="rect">
            <a:avLst/>
          </a:prstGeom>
          <a:noFill/>
          <a:ln/>
        </p:spPr>
        <p:txBody>
          <a:bodyPr wrap="square" lIns="0" tIns="0" rIns="0" bIns="0" rtlCol="0" anchor="ctr"/>
          <a:lstStyle/>
          <a:p>
            <a:pPr algn="l" indent="0" marL="0">
              <a:lnSpc>
                <a:spcPts val="1950"/>
              </a:lnSpc>
              <a:buNone/>
            </a:pPr>
            <a:r>
              <a:rPr lang="en-US" sz="1500" dirty="0">
                <a:solidFill>
                  <a:srgbClr val="015857"/>
                </a:solidFill>
                <a:latin typeface="IBM Plex Mono Regular" pitchFamily="34" charset="0"/>
                <a:ea typeface="IBM Plex Mono Regular" pitchFamily="34" charset="-122"/>
                <a:cs typeface="IBM Plex Mono Regular" pitchFamily="34" charset="-120"/>
              </a:rPr>
              <a:t>(P) +1-917-403-0300</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2026-09-30T12:46:13Z</dcterms:created>
  <dcterms:modified xsi:type="dcterms:W3CDTF">2026-09-30T12:46:13Z</dcterms:modified>
</cp:coreProperties>
</file>